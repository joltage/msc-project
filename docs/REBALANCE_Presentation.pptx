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Calibri"/>
              </a:defRPr>
            </a:pPr>
            <a:r>
              <a:rPr lang="en-GB" sz="1300" b="0" i="0" u="none" strike="noStrike">
                <a:solidFill>
                  <a:srgbClr val="1A1A2E"/>
                </a:solidFill>
                <a:latin typeface="Calibri"/>
              </a:rPr>
              <a:t>Mean Accuracy Cost vs. Matched Baseline (percentage points, 3 seeds)</a:t>
            </a:r>
          </a:p>
        </c:rich>
      </c:tx>
      <c:layout/>
      <c:overlay val="0"/>
    </c:title>
    <c:autoTitleDeleted val="0"/>
    <c:plotArea>
      <c:layout/>
      <c:barChart>
        <c:barDir val="col"/>
        <c:grouping val="clustered"/>
        <c:varyColors val="0"/>
        <c:ser>
          <c:idx val="0"/>
          <c:order val="0"/>
          <c:tx>
            <c:strRef>
              <c:f>Sheet1!$B$1</c:f>
              <c:strCache>
                <c:ptCount val="1"/>
                <c:pt idx="0">
                  <c:v>COMPAS</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Reweighing</c:v>
                </c:pt>
                <c:pt idx="1">
                  <c:v>Disp. Impact
Remover</c:v>
                </c:pt>
                <c:pt idx="2">
                  <c:v>Prejudice
Remover</c:v>
                </c:pt>
                <c:pt idx="3">
                  <c:v>Reject
Option</c:v>
                </c:pt>
                <c:pt idx="4">
                  <c:v>Calib. Eq.
Odds</c:v>
                </c:pt>
              </c:strCache>
            </c:strRef>
          </c:cat>
          <c:val>
            <c:numRef>
              <c:f>Sheet1!$B$2:$B$6</c:f>
              <c:numCache>
                <c:formatCode>General</c:formatCode>
                <c:ptCount val="5"/>
                <c:pt idx="0">
                  <c:v>-1.3</c:v>
                </c:pt>
                <c:pt idx="1">
                  <c:v>-0.7</c:v>
                </c:pt>
                <c:pt idx="2">
                  <c:v>-5.2</c:v>
                </c:pt>
                <c:pt idx="3">
                  <c:v>-1.7</c:v>
                </c:pt>
                <c:pt idx="4">
                  <c:v>-1.7</c:v>
                </c:pt>
              </c:numCache>
            </c:numRef>
          </c:val>
          <c:extLst>
            <c:ext xmlns:c16="http://schemas.microsoft.com/office/drawing/2014/chart" uri="{C3380CC4-5D6E-409C-BE32-E72D297353CC}">
              <c16:uniqueId val="{00000000-A017-4002-B7E7-C3EBB2E827F7}"/>
            </c:ext>
          </c:extLst>
        </c:ser>
        <c:ser>
          <c:idx val="1"/>
          <c:order val="1"/>
          <c:tx>
            <c:strRef>
              <c:f>Sheet1!$C$1</c:f>
              <c:strCache>
                <c:ptCount val="1"/>
                <c:pt idx="0">
                  <c:v>Adult Income</c:v>
                </c:pt>
              </c:strCache>
            </c:strRef>
          </c:tx>
          <c:spPr>
            <a:solidFill>
              <a:srgbClr val="CADCFC"/>
            </a:solidFill>
            <a:effectLst/>
          </c:spPr>
          <c:invertIfNegative val="0"/>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Reweighing</c:v>
                </c:pt>
                <c:pt idx="1">
                  <c:v>Disp. Impact
Remover</c:v>
                </c:pt>
                <c:pt idx="2">
                  <c:v>Prejudice
Remover</c:v>
                </c:pt>
                <c:pt idx="3">
                  <c:v>Reject
Option</c:v>
                </c:pt>
                <c:pt idx="4">
                  <c:v>Calib. Eq.
Odds</c:v>
                </c:pt>
              </c:strCache>
            </c:strRef>
          </c:cat>
          <c:val>
            <c:numRef>
              <c:f>Sheet1!$C$2:$C$6</c:f>
              <c:numCache>
                <c:formatCode>General</c:formatCode>
                <c:ptCount val="5"/>
                <c:pt idx="0">
                  <c:v>0</c:v>
                </c:pt>
                <c:pt idx="1">
                  <c:v>-0.7</c:v>
                </c:pt>
                <c:pt idx="2">
                  <c:v>-0.1</c:v>
                </c:pt>
                <c:pt idx="3">
                  <c:v>-4.2</c:v>
                </c:pt>
                <c:pt idx="4">
                  <c:v>-1.5</c:v>
                </c:pt>
              </c:numCache>
            </c:numRef>
          </c:val>
          <c:extLst>
            <c:ext xmlns:c16="http://schemas.microsoft.com/office/drawing/2014/chart" uri="{C3380CC4-5D6E-409C-BE32-E72D297353CC}">
              <c16:uniqueId val="{00000001-A017-4002-B7E7-C3EBB2E827F7}"/>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2E"/>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title>
          <c:tx>
            <c:rich>
              <a:bodyPr/>
              <a:lstStyle/>
              <a:p>
                <a:pPr>
                  <a:defRPr sz="1100" b="0" i="0" u="none" strike="noStrike">
                    <a:solidFill>
                      <a:srgbClr val="000000"/>
                    </a:solidFill>
                    <a:latin typeface="Arial"/>
                  </a:defRPr>
                </a:pPr>
                <a:r>
                  <a:rPr lang="el-GR" sz="1100" b="0" i="0" u="none" strike="noStrike">
                    <a:solidFill>
                      <a:srgbClr val="000000"/>
                    </a:solidFill>
                    <a:latin typeface="Arial"/>
                  </a:rPr>
                  <a:t>Δ </a:t>
                </a:r>
                <a:r>
                  <a:rPr lang="en-GB" sz="1100" b="0" i="0" u="none" strike="noStrike">
                    <a:solidFill>
                      <a:srgbClr val="000000"/>
                    </a:solidFill>
                    <a:latin typeface="Arial"/>
                  </a:rPr>
                  <a:t>Accuracy (pp)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Calibri"/>
              </a:defRPr>
            </a:pPr>
            <a:endParaRPr lang="en-US"/>
          </a:p>
        </c:txPr>
        <c:crossAx val="2094734554"/>
        <c:crosses val="autoZero"/>
        <c:crossBetween val="between"/>
      </c:valAx>
      <c:spPr>
        <a:noFill/>
        <a:ln>
          <a:noFill/>
        </a:ln>
        <a:effectLst/>
      </c:spPr>
    </c:plotArea>
    <c:legend>
      <c:legendPos val="b"/>
      <c:layou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069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965960"/>
            <a:ext cx="10698480" cy="1005840"/>
          </a:xfrm>
          <a:prstGeom prst="rect">
            <a:avLst/>
          </a:prstGeom>
          <a:noFill/>
          <a:ln/>
        </p:spPr>
        <p:txBody>
          <a:bodyPr wrap="square" rtlCol="0" anchor="ctr"/>
          <a:lstStyle/>
          <a:p>
            <a:pPr marL="0" indent="0">
              <a:buNone/>
            </a:pPr>
            <a:r>
              <a:rPr lang="en-US" sz="5400" b="1" kern="0" spc="100" dirty="0">
                <a:solidFill>
                  <a:srgbClr val="FFFFFF"/>
                </a:solidFill>
                <a:latin typeface="Cambria" pitchFamily="34" charset="0"/>
                <a:ea typeface="Cambria" pitchFamily="34" charset="-122"/>
                <a:cs typeface="Cambria" pitchFamily="34" charset="-120"/>
              </a:rPr>
              <a:t>REBALANCE</a:t>
            </a:r>
            <a:endParaRPr lang="en-US" sz="5400" dirty="0"/>
          </a:p>
        </p:txBody>
      </p:sp>
      <p:sp>
        <p:nvSpPr>
          <p:cNvPr id="3" name="Text 1"/>
          <p:cNvSpPr/>
          <p:nvPr/>
        </p:nvSpPr>
        <p:spPr>
          <a:xfrm>
            <a:off x="731520" y="2971800"/>
            <a:ext cx="10058400" cy="1005840"/>
          </a:xfrm>
          <a:prstGeom prst="rect">
            <a:avLst/>
          </a:prstGeom>
          <a:noFill/>
          <a:ln/>
        </p:spPr>
        <p:txBody>
          <a:bodyPr wrap="square" rtlCol="0" anchor="ctr"/>
          <a:lstStyle/>
          <a:p>
            <a:pPr marL="0" indent="0">
              <a:lnSpc>
                <a:spcPct val="125000"/>
              </a:lnSpc>
              <a:buNone/>
            </a:pPr>
            <a:r>
              <a:rPr lang="en-US" sz="1900" dirty="0">
                <a:solidFill>
                  <a:srgbClr val="CADCFC"/>
                </a:solidFill>
                <a:latin typeface="Calibri" pitchFamily="34" charset="0"/>
                <a:ea typeface="Calibri" pitchFamily="34" charset="-122"/>
                <a:cs typeface="Calibri" pitchFamily="34" charset="-120"/>
              </a:rPr>
              <a:t>Quantifying the Racial Bias Accuracy-Fairness Trade-off</a:t>
            </a:r>
            <a:endParaRPr lang="en-US" sz="1900" dirty="0"/>
          </a:p>
          <a:p>
            <a:pPr marL="0" indent="0">
              <a:lnSpc>
                <a:spcPct val="125000"/>
              </a:lnSpc>
              <a:buNone/>
            </a:pPr>
            <a:r>
              <a:rPr lang="en-US" sz="1900" dirty="0">
                <a:solidFill>
                  <a:srgbClr val="CADCFC"/>
                </a:solidFill>
                <a:latin typeface="Calibri" pitchFamily="34" charset="0"/>
                <a:ea typeface="Calibri" pitchFamily="34" charset="-122"/>
                <a:cs typeface="Calibri" pitchFamily="34" charset="-120"/>
              </a:rPr>
              <a:t>in Machine Learning Across Criminal Justice and Employment</a:t>
            </a:r>
            <a:endParaRPr lang="en-US" sz="1900" dirty="0"/>
          </a:p>
        </p:txBody>
      </p:sp>
      <p:sp>
        <p:nvSpPr>
          <p:cNvPr id="4" name="Shape 2"/>
          <p:cNvSpPr/>
          <p:nvPr/>
        </p:nvSpPr>
        <p:spPr>
          <a:xfrm>
            <a:off x="731520" y="4160520"/>
            <a:ext cx="1463040" cy="45720"/>
          </a:xfrm>
          <a:prstGeom prst="rect">
            <a:avLst/>
          </a:prstGeom>
          <a:solidFill>
            <a:srgbClr val="E8604C"/>
          </a:solidFill>
          <a:ln/>
        </p:spPr>
      </p:sp>
      <p:sp>
        <p:nvSpPr>
          <p:cNvPr id="5" name="Text 3"/>
          <p:cNvSpPr/>
          <p:nvPr/>
        </p:nvSpPr>
        <p:spPr>
          <a:xfrm>
            <a:off x="731520" y="4434840"/>
            <a:ext cx="7315200" cy="914400"/>
          </a:xfrm>
          <a:prstGeom prst="rect">
            <a:avLst/>
          </a:prstGeom>
          <a:noFill/>
          <a:ln/>
        </p:spPr>
        <p:txBody>
          <a:bodyPr wrap="square" rtlCol="0" anchor="ctr"/>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Joshua Oghosasehe Ekogiawe</a:t>
            </a:r>
            <a:endParaRPr lang="en-US" sz="1400" dirty="0"/>
          </a:p>
          <a:p>
            <a:pPr marL="0" indent="0">
              <a:lnSpc>
                <a:spcPct val="130000"/>
              </a:lnSpc>
              <a:buNone/>
            </a:pPr>
            <a:r>
              <a:rPr lang="en-US" sz="1400" dirty="0" smtClean="0">
                <a:solidFill>
                  <a:srgbClr val="FFFFFF"/>
                </a:solidFill>
                <a:latin typeface="Calibri" pitchFamily="34" charset="0"/>
                <a:ea typeface="Calibri" pitchFamily="34" charset="-122"/>
                <a:cs typeface="Calibri" pitchFamily="34" charset="-120"/>
              </a:rPr>
              <a:t>MSc. Computer science and Technology</a:t>
            </a:r>
            <a:r>
              <a:rPr lang="en-US" sz="1400" dirty="0" smtClean="0">
                <a:solidFill>
                  <a:srgbClr val="FFFFFF"/>
                </a:solidFill>
                <a:latin typeface="Calibri" pitchFamily="34" charset="0"/>
                <a:ea typeface="Calibri" pitchFamily="34" charset="-122"/>
                <a:cs typeface="Calibri" pitchFamily="34" charset="-120"/>
              </a:rPr>
              <a:t> </a:t>
            </a:r>
            <a:r>
              <a:rPr lang="en-US" sz="1400" dirty="0">
                <a:solidFill>
                  <a:srgbClr val="FFFFFF"/>
                </a:solidFill>
                <a:latin typeface="Calibri" pitchFamily="34" charset="0"/>
                <a:ea typeface="Calibri" pitchFamily="34" charset="-122"/>
                <a:cs typeface="Calibri" pitchFamily="34" charset="-120"/>
              </a:rPr>
              <a:t>· Ulster University</a:t>
            </a:r>
            <a:endParaRPr lang="en-US" sz="1400" dirty="0"/>
          </a:p>
          <a:p>
            <a:pPr marL="0" indent="0">
              <a:lnSpc>
                <a:spcPct val="130000"/>
              </a:lnSpc>
              <a:buNone/>
            </a:pPr>
            <a:r>
              <a:rPr lang="en-US" sz="1400" dirty="0" smtClean="0">
                <a:solidFill>
                  <a:srgbClr val="FFFFFF"/>
                </a:solidFill>
                <a:latin typeface="Calibri" pitchFamily="34" charset="0"/>
                <a:ea typeface="Calibri" pitchFamily="34" charset="-122"/>
                <a:cs typeface="Calibri" pitchFamily="34" charset="-120"/>
              </a:rPr>
              <a:t>B01045839</a:t>
            </a:r>
            <a:endParaRPr lang="en-US" sz="1400" dirty="0"/>
          </a:p>
        </p:txBody>
      </p:sp>
      <p:sp>
        <p:nvSpPr>
          <p:cNvPr id="6" name="Text 4"/>
          <p:cNvSpPr/>
          <p:nvPr/>
        </p:nvSpPr>
        <p:spPr>
          <a:xfrm>
            <a:off x="731520" y="6126480"/>
            <a:ext cx="7315200" cy="365760"/>
          </a:xfrm>
          <a:prstGeom prst="rect">
            <a:avLst/>
          </a:prstGeom>
          <a:noFill/>
          <a:ln/>
        </p:spPr>
        <p:txBody>
          <a:bodyPr wrap="square"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Fairer algorithms cost accuracy — but how much, and where?</a:t>
            </a:r>
            <a:endParaRPr lang="en-US" sz="3000" dirty="0"/>
          </a:p>
        </p:txBody>
      </p:sp>
      <p:sp>
        <p:nvSpPr>
          <p:cNvPr id="4" name="Text 2"/>
          <p:cNvSpPr/>
          <p:nvPr/>
        </p:nvSpPr>
        <p:spPr>
          <a:xfrm>
            <a:off x="548640" y="1508760"/>
            <a:ext cx="6675120" cy="128016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The EU AI Act (2024) requires demonstrable non-discrimination in high-risk domains, including criminal justice and employment — but gives no quantitative threshold for what an acceptable accuracy cost looks like.</a:t>
            </a:r>
            <a:endParaRPr lang="en-US" sz="1500" dirty="0"/>
          </a:p>
        </p:txBody>
      </p:sp>
      <p:sp>
        <p:nvSpPr>
          <p:cNvPr id="5" name="Text 3"/>
          <p:cNvSpPr/>
          <p:nvPr/>
        </p:nvSpPr>
        <p:spPr>
          <a:xfrm>
            <a:off x="548640" y="2880360"/>
            <a:ext cx="6675120" cy="118872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No prior study has measured the racial bias accuracy-fairness trade-off across multiple regulated domains under the same protected attribute and controlled conditions.</a:t>
            </a:r>
            <a:endParaRPr lang="en-US" sz="1500" dirty="0"/>
          </a:p>
        </p:txBody>
      </p:sp>
      <p:sp>
        <p:nvSpPr>
          <p:cNvPr id="6" name="Shape 4"/>
          <p:cNvSpPr/>
          <p:nvPr/>
        </p:nvSpPr>
        <p:spPr>
          <a:xfrm>
            <a:off x="7635240" y="1508760"/>
            <a:ext cx="4023360" cy="4434840"/>
          </a:xfrm>
          <a:prstGeom prst="roundRect">
            <a:avLst>
              <a:gd name="adj" fmla="val 2727"/>
            </a:avLst>
          </a:prstGeom>
          <a:solidFill>
            <a:srgbClr val="1E2761"/>
          </a:solidFill>
          <a:ln/>
        </p:spPr>
      </p:sp>
      <p:sp>
        <p:nvSpPr>
          <p:cNvPr id="7" name="Text 5"/>
          <p:cNvSpPr/>
          <p:nvPr/>
        </p:nvSpPr>
        <p:spPr>
          <a:xfrm>
            <a:off x="7955280" y="1783080"/>
            <a:ext cx="3383280" cy="365760"/>
          </a:xfrm>
          <a:prstGeom prst="rect">
            <a:avLst/>
          </a:prstGeom>
          <a:noFill/>
          <a:ln/>
        </p:spPr>
        <p:txBody>
          <a:bodyPr wrap="square"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THE PROPUBLICA COMPAS FINDING</a:t>
            </a:r>
            <a:endParaRPr lang="en-US" sz="1100" dirty="0"/>
          </a:p>
        </p:txBody>
      </p:sp>
      <p:sp>
        <p:nvSpPr>
          <p:cNvPr id="8" name="Text 6"/>
          <p:cNvSpPr/>
          <p:nvPr/>
        </p:nvSpPr>
        <p:spPr>
          <a:xfrm>
            <a:off x="7955280" y="2148840"/>
            <a:ext cx="3383280" cy="914400"/>
          </a:xfrm>
          <a:prstGeom prst="rect">
            <a:avLst/>
          </a:prstGeom>
          <a:noFill/>
          <a:ln/>
        </p:spPr>
        <p:txBody>
          <a:bodyPr wrap="square" rtlCol="0" anchor="ctr"/>
          <a:lstStyle/>
          <a:p>
            <a:pPr marL="0" indent="0">
              <a:buNone/>
            </a:pPr>
            <a:r>
              <a:rPr lang="en-US" sz="5400" b="1" dirty="0">
                <a:solidFill>
                  <a:srgbClr val="E8604C"/>
                </a:solidFill>
                <a:latin typeface="Cambria" pitchFamily="34" charset="0"/>
                <a:ea typeface="Cambria" pitchFamily="34" charset="-122"/>
                <a:cs typeface="Cambria" pitchFamily="34" charset="-120"/>
              </a:rPr>
              <a:t>44.9%</a:t>
            </a:r>
            <a:endParaRPr lang="en-US" sz="5400" dirty="0"/>
          </a:p>
        </p:txBody>
      </p:sp>
      <p:sp>
        <p:nvSpPr>
          <p:cNvPr id="9" name="Text 7"/>
          <p:cNvSpPr/>
          <p:nvPr/>
        </p:nvSpPr>
        <p:spPr>
          <a:xfrm>
            <a:off x="7955280" y="3063240"/>
            <a:ext cx="3383280" cy="5486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false positive rate for Black defendants</a:t>
            </a:r>
            <a:endParaRPr lang="en-US" sz="1300" dirty="0"/>
          </a:p>
        </p:txBody>
      </p:sp>
      <p:sp>
        <p:nvSpPr>
          <p:cNvPr id="10" name="Text 8"/>
          <p:cNvSpPr/>
          <p:nvPr/>
        </p:nvSpPr>
        <p:spPr>
          <a:xfrm>
            <a:off x="7955280" y="3703320"/>
            <a:ext cx="3383280" cy="914400"/>
          </a:xfrm>
          <a:prstGeom prst="rect">
            <a:avLst/>
          </a:prstGeom>
          <a:noFill/>
          <a:ln/>
        </p:spPr>
        <p:txBody>
          <a:bodyPr wrap="square" rtlCol="0" anchor="ctr"/>
          <a:lstStyle/>
          <a:p>
            <a:pPr marL="0" indent="0">
              <a:buNone/>
            </a:pPr>
            <a:r>
              <a:rPr lang="en-US" sz="5400" b="1" dirty="0">
                <a:solidFill>
                  <a:srgbClr val="CADCFC"/>
                </a:solidFill>
                <a:latin typeface="Cambria" pitchFamily="34" charset="0"/>
                <a:ea typeface="Cambria" pitchFamily="34" charset="-122"/>
                <a:cs typeface="Cambria" pitchFamily="34" charset="-120"/>
              </a:rPr>
              <a:t>23.5%</a:t>
            </a:r>
            <a:endParaRPr lang="en-US" sz="5400" dirty="0"/>
          </a:p>
        </p:txBody>
      </p:sp>
      <p:sp>
        <p:nvSpPr>
          <p:cNvPr id="11" name="Text 9"/>
          <p:cNvSpPr/>
          <p:nvPr/>
        </p:nvSpPr>
        <p:spPr>
          <a:xfrm>
            <a:off x="7955280" y="4617720"/>
            <a:ext cx="3383280" cy="5486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false positive rate for White defendants</a:t>
            </a:r>
            <a:endParaRPr lang="en-US" sz="1300" dirty="0"/>
          </a:p>
        </p:txBody>
      </p:sp>
      <p:sp>
        <p:nvSpPr>
          <p:cNvPr id="12" name="Text 10"/>
          <p:cNvSpPr/>
          <p:nvPr/>
        </p:nvSpPr>
        <p:spPr>
          <a:xfrm>
            <a:off x="7955280" y="5257800"/>
            <a:ext cx="3383280" cy="5943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Same criminal history, charge type, and age — disparity attributable to the algorithm.</a:t>
            </a:r>
            <a:endParaRPr lang="en-US" sz="1100" dirty="0"/>
          </a:p>
        </p:txBody>
      </p:sp>
      <p:sp>
        <p:nvSpPr>
          <p:cNvPr id="13" name="Text 11"/>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RESEARCH DESIGN</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Three Research Questions</a:t>
            </a:r>
            <a:endParaRPr lang="en-US" sz="3000" dirty="0"/>
          </a:p>
        </p:txBody>
      </p:sp>
      <p:sp>
        <p:nvSpPr>
          <p:cNvPr id="4" name="Shape 2"/>
          <p:cNvSpPr/>
          <p:nvPr/>
        </p:nvSpPr>
        <p:spPr>
          <a:xfrm>
            <a:off x="548640" y="1600200"/>
            <a:ext cx="822960" cy="822960"/>
          </a:xfrm>
          <a:prstGeom prst="ellipse">
            <a:avLst/>
          </a:prstGeom>
          <a:solidFill>
            <a:srgbClr val="1E2761"/>
          </a:solidFill>
          <a:ln/>
        </p:spPr>
      </p:sp>
      <p:sp>
        <p:nvSpPr>
          <p:cNvPr id="5" name="Text 3"/>
          <p:cNvSpPr/>
          <p:nvPr/>
        </p:nvSpPr>
        <p:spPr>
          <a:xfrm>
            <a:off x="548640" y="1600200"/>
            <a:ext cx="822960" cy="822960"/>
          </a:xfrm>
          <a:prstGeom prst="rect">
            <a:avLst/>
          </a:prstGeom>
          <a:noFill/>
          <a:ln/>
        </p:spPr>
        <p:txBody>
          <a:bodyPr wrap="square" rtlCol="0" anchor="ctr"/>
          <a:lstStyle/>
          <a:p>
            <a:pPr marL="0" indent="0" algn="ctr">
              <a:buNone/>
            </a:pPr>
            <a:r>
              <a:rPr lang="en-US" sz="2340" b="1" dirty="0">
                <a:solidFill>
                  <a:srgbClr val="FFFFFF"/>
                </a:solidFill>
                <a:latin typeface="Cambria" pitchFamily="34" charset="0"/>
                <a:ea typeface="Cambria" pitchFamily="34" charset="-122"/>
                <a:cs typeface="Cambria" pitchFamily="34" charset="-120"/>
              </a:rPr>
              <a:t>1</a:t>
            </a:r>
            <a:endParaRPr lang="en-US" sz="2340" dirty="0"/>
          </a:p>
        </p:txBody>
      </p:sp>
      <p:sp>
        <p:nvSpPr>
          <p:cNvPr id="6" name="Text 4"/>
          <p:cNvSpPr/>
          <p:nvPr/>
        </p:nvSpPr>
        <p:spPr>
          <a:xfrm>
            <a:off x="1600200" y="1554480"/>
            <a:ext cx="1188720" cy="365760"/>
          </a:xfrm>
          <a:prstGeom prst="rect">
            <a:avLst/>
          </a:prstGeom>
          <a:noFill/>
          <a:ln/>
        </p:spPr>
        <p:txBody>
          <a:bodyPr wrap="square" rtlCol="0" anchor="ctr"/>
          <a:lstStyle/>
          <a:p>
            <a:pPr marL="0" indent="0">
              <a:buNone/>
            </a:pPr>
            <a:r>
              <a:rPr lang="en-US" sz="1600" b="1" dirty="0">
                <a:solidFill>
                  <a:srgbClr val="E8604C"/>
                </a:solidFill>
                <a:latin typeface="Cambria" pitchFamily="34" charset="0"/>
                <a:ea typeface="Cambria" pitchFamily="34" charset="-122"/>
                <a:cs typeface="Cambria" pitchFamily="34" charset="-120"/>
              </a:rPr>
              <a:t>RQ1</a:t>
            </a:r>
            <a:endParaRPr lang="en-US" sz="1600" dirty="0"/>
          </a:p>
        </p:txBody>
      </p:sp>
      <p:sp>
        <p:nvSpPr>
          <p:cNvPr id="7" name="Text 5"/>
          <p:cNvSpPr/>
          <p:nvPr/>
        </p:nvSpPr>
        <p:spPr>
          <a:xfrm>
            <a:off x="1600200" y="1892808"/>
            <a:ext cx="9966960" cy="914400"/>
          </a:xfrm>
          <a:prstGeom prst="rect">
            <a:avLst/>
          </a:prstGeom>
          <a:noFill/>
          <a:ln/>
        </p:spPr>
        <p:txBody>
          <a:bodyPr wrap="square" rtlCol="0" anchor="ctr"/>
          <a:lstStyle/>
          <a:p>
            <a:pPr marL="0" indent="0">
              <a:lnSpc>
                <a:spcPct val="120000"/>
              </a:lnSpc>
              <a:buNone/>
            </a:pPr>
            <a:r>
              <a:rPr lang="en-US" sz="1450" dirty="0">
                <a:solidFill>
                  <a:srgbClr val="1A1A2E"/>
                </a:solidFill>
                <a:latin typeface="Calibri" pitchFamily="34" charset="0"/>
                <a:ea typeface="Calibri" pitchFamily="34" charset="-122"/>
                <a:cs typeface="Calibri" pitchFamily="34" charset="-120"/>
              </a:rPr>
              <a:t>What is the quantitative accuracy cost of applying five AIF360 debiasing techniques across four classifiers to reduce racial bias in criminal justice and employment?</a:t>
            </a:r>
            <a:endParaRPr lang="en-US" sz="1450" dirty="0"/>
          </a:p>
        </p:txBody>
      </p:sp>
      <p:sp>
        <p:nvSpPr>
          <p:cNvPr id="8" name="Shape 6"/>
          <p:cNvSpPr/>
          <p:nvPr/>
        </p:nvSpPr>
        <p:spPr>
          <a:xfrm>
            <a:off x="548640" y="3108960"/>
            <a:ext cx="822960" cy="822960"/>
          </a:xfrm>
          <a:prstGeom prst="ellipse">
            <a:avLst/>
          </a:prstGeom>
          <a:solidFill>
            <a:srgbClr val="1E2761"/>
          </a:solidFill>
          <a:ln/>
        </p:spPr>
      </p:sp>
      <p:sp>
        <p:nvSpPr>
          <p:cNvPr id="9" name="Text 7"/>
          <p:cNvSpPr/>
          <p:nvPr/>
        </p:nvSpPr>
        <p:spPr>
          <a:xfrm>
            <a:off x="548640" y="3108960"/>
            <a:ext cx="822960" cy="822960"/>
          </a:xfrm>
          <a:prstGeom prst="rect">
            <a:avLst/>
          </a:prstGeom>
          <a:noFill/>
          <a:ln/>
        </p:spPr>
        <p:txBody>
          <a:bodyPr wrap="square" rtlCol="0" anchor="ctr"/>
          <a:lstStyle/>
          <a:p>
            <a:pPr marL="0" indent="0" algn="ctr">
              <a:buNone/>
            </a:pPr>
            <a:r>
              <a:rPr lang="en-US" sz="2340" b="1" dirty="0">
                <a:solidFill>
                  <a:srgbClr val="FFFFFF"/>
                </a:solidFill>
                <a:latin typeface="Cambria" pitchFamily="34" charset="0"/>
                <a:ea typeface="Cambria" pitchFamily="34" charset="-122"/>
                <a:cs typeface="Cambria" pitchFamily="34" charset="-120"/>
              </a:rPr>
              <a:t>2</a:t>
            </a:r>
            <a:endParaRPr lang="en-US" sz="2340" dirty="0"/>
          </a:p>
        </p:txBody>
      </p:sp>
      <p:sp>
        <p:nvSpPr>
          <p:cNvPr id="10" name="Text 8"/>
          <p:cNvSpPr/>
          <p:nvPr/>
        </p:nvSpPr>
        <p:spPr>
          <a:xfrm>
            <a:off x="1600200" y="3063240"/>
            <a:ext cx="1188720" cy="365760"/>
          </a:xfrm>
          <a:prstGeom prst="rect">
            <a:avLst/>
          </a:prstGeom>
          <a:noFill/>
          <a:ln/>
        </p:spPr>
        <p:txBody>
          <a:bodyPr wrap="square" rtlCol="0" anchor="ctr"/>
          <a:lstStyle/>
          <a:p>
            <a:pPr marL="0" indent="0">
              <a:buNone/>
            </a:pPr>
            <a:r>
              <a:rPr lang="en-US" sz="1600" b="1" dirty="0">
                <a:solidFill>
                  <a:srgbClr val="E8604C"/>
                </a:solidFill>
                <a:latin typeface="Cambria" pitchFamily="34" charset="0"/>
                <a:ea typeface="Cambria" pitchFamily="34" charset="-122"/>
                <a:cs typeface="Cambria" pitchFamily="34" charset="-120"/>
              </a:rPr>
              <a:t>RQ2</a:t>
            </a:r>
            <a:endParaRPr lang="en-US" sz="1600" dirty="0"/>
          </a:p>
        </p:txBody>
      </p:sp>
      <p:sp>
        <p:nvSpPr>
          <p:cNvPr id="11" name="Text 9"/>
          <p:cNvSpPr/>
          <p:nvPr/>
        </p:nvSpPr>
        <p:spPr>
          <a:xfrm>
            <a:off x="1600200" y="3401568"/>
            <a:ext cx="9966960" cy="914400"/>
          </a:xfrm>
          <a:prstGeom prst="rect">
            <a:avLst/>
          </a:prstGeom>
          <a:noFill/>
          <a:ln/>
        </p:spPr>
        <p:txBody>
          <a:bodyPr wrap="square" rtlCol="0" anchor="ctr"/>
          <a:lstStyle/>
          <a:p>
            <a:pPr marL="0" indent="0">
              <a:lnSpc>
                <a:spcPct val="120000"/>
              </a:lnSpc>
              <a:buNone/>
            </a:pPr>
            <a:r>
              <a:rPr lang="en-US" sz="1450" dirty="0">
                <a:solidFill>
                  <a:srgbClr val="1A1A2E"/>
                </a:solidFill>
                <a:latin typeface="Calibri" pitchFamily="34" charset="0"/>
                <a:ea typeface="Calibri" pitchFamily="34" charset="-122"/>
                <a:cs typeface="Calibri" pitchFamily="34" charset="-120"/>
              </a:rPr>
              <a:t>Does the magnitude of the trade-off vary systematically across the two domains, and is this related to the racial outcome base rate difference?</a:t>
            </a:r>
            <a:endParaRPr lang="en-US" sz="1450" dirty="0"/>
          </a:p>
        </p:txBody>
      </p:sp>
      <p:sp>
        <p:nvSpPr>
          <p:cNvPr id="12" name="Shape 10"/>
          <p:cNvSpPr/>
          <p:nvPr/>
        </p:nvSpPr>
        <p:spPr>
          <a:xfrm>
            <a:off x="548640" y="4617720"/>
            <a:ext cx="822960" cy="822960"/>
          </a:xfrm>
          <a:prstGeom prst="ellipse">
            <a:avLst/>
          </a:prstGeom>
          <a:solidFill>
            <a:srgbClr val="1E2761"/>
          </a:solidFill>
          <a:ln/>
        </p:spPr>
      </p:sp>
      <p:sp>
        <p:nvSpPr>
          <p:cNvPr id="13" name="Text 11"/>
          <p:cNvSpPr/>
          <p:nvPr/>
        </p:nvSpPr>
        <p:spPr>
          <a:xfrm>
            <a:off x="548640" y="4617720"/>
            <a:ext cx="822960" cy="822960"/>
          </a:xfrm>
          <a:prstGeom prst="rect">
            <a:avLst/>
          </a:prstGeom>
          <a:noFill/>
          <a:ln/>
        </p:spPr>
        <p:txBody>
          <a:bodyPr wrap="square" rtlCol="0" anchor="ctr"/>
          <a:lstStyle/>
          <a:p>
            <a:pPr marL="0" indent="0" algn="ctr">
              <a:buNone/>
            </a:pPr>
            <a:r>
              <a:rPr lang="en-US" sz="2340" b="1" dirty="0">
                <a:solidFill>
                  <a:srgbClr val="FFFFFF"/>
                </a:solidFill>
                <a:latin typeface="Cambria" pitchFamily="34" charset="0"/>
                <a:ea typeface="Cambria" pitchFamily="34" charset="-122"/>
                <a:cs typeface="Cambria" pitchFamily="34" charset="-120"/>
              </a:rPr>
              <a:t>3</a:t>
            </a:r>
            <a:endParaRPr lang="en-US" sz="2340" dirty="0"/>
          </a:p>
        </p:txBody>
      </p:sp>
      <p:sp>
        <p:nvSpPr>
          <p:cNvPr id="14" name="Text 12"/>
          <p:cNvSpPr/>
          <p:nvPr/>
        </p:nvSpPr>
        <p:spPr>
          <a:xfrm>
            <a:off x="1600200" y="4572000"/>
            <a:ext cx="1188720" cy="365760"/>
          </a:xfrm>
          <a:prstGeom prst="rect">
            <a:avLst/>
          </a:prstGeom>
          <a:noFill/>
          <a:ln/>
        </p:spPr>
        <p:txBody>
          <a:bodyPr wrap="square" rtlCol="0" anchor="ctr"/>
          <a:lstStyle/>
          <a:p>
            <a:pPr marL="0" indent="0">
              <a:buNone/>
            </a:pPr>
            <a:r>
              <a:rPr lang="en-US" sz="1600" b="1" dirty="0">
                <a:solidFill>
                  <a:srgbClr val="E8604C"/>
                </a:solidFill>
                <a:latin typeface="Cambria" pitchFamily="34" charset="0"/>
                <a:ea typeface="Cambria" pitchFamily="34" charset="-122"/>
                <a:cs typeface="Cambria" pitchFamily="34" charset="-120"/>
              </a:rPr>
              <a:t>RQ3</a:t>
            </a:r>
            <a:endParaRPr lang="en-US" sz="1600" dirty="0"/>
          </a:p>
        </p:txBody>
      </p:sp>
      <p:sp>
        <p:nvSpPr>
          <p:cNvPr id="15" name="Text 13"/>
          <p:cNvSpPr/>
          <p:nvPr/>
        </p:nvSpPr>
        <p:spPr>
          <a:xfrm>
            <a:off x="1600200" y="4910328"/>
            <a:ext cx="9966960" cy="914400"/>
          </a:xfrm>
          <a:prstGeom prst="rect">
            <a:avLst/>
          </a:prstGeom>
          <a:noFill/>
          <a:ln/>
        </p:spPr>
        <p:txBody>
          <a:bodyPr wrap="square" rtlCol="0" anchor="ctr"/>
          <a:lstStyle/>
          <a:p>
            <a:pPr marL="0" indent="0">
              <a:lnSpc>
                <a:spcPct val="120000"/>
              </a:lnSpc>
              <a:buNone/>
            </a:pPr>
            <a:r>
              <a:rPr lang="en-US" sz="1450" dirty="0">
                <a:solidFill>
                  <a:srgbClr val="1A1A2E"/>
                </a:solidFill>
                <a:latin typeface="Calibri" pitchFamily="34" charset="0"/>
                <a:ea typeface="Calibri" pitchFamily="34" charset="-122"/>
                <a:cs typeface="Calibri" pitchFamily="34" charset="-120"/>
              </a:rPr>
              <a:t>Which debiasing technique category is most cost-effective, and does that ranking hold across all four classifier families?</a:t>
            </a:r>
            <a:endParaRPr lang="en-US" sz="1450" dirty="0"/>
          </a:p>
        </p:txBody>
      </p:sp>
      <p:sp>
        <p:nvSpPr>
          <p:cNvPr id="16" name="Text 14"/>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CONCEPTUAL FRAMEWORK</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 Testable Hypotheses</a:t>
            </a:r>
            <a:endParaRPr lang="en-US" sz="3000" dirty="0"/>
          </a:p>
        </p:txBody>
      </p:sp>
      <p:sp>
        <p:nvSpPr>
          <p:cNvPr id="4" name="Shape 2"/>
          <p:cNvSpPr/>
          <p:nvPr/>
        </p:nvSpPr>
        <p:spPr>
          <a:xfrm>
            <a:off x="548640" y="1600200"/>
            <a:ext cx="5349240" cy="4206240"/>
          </a:xfrm>
          <a:prstGeom prst="roundRect">
            <a:avLst>
              <a:gd name="adj" fmla="val 2174"/>
            </a:avLst>
          </a:prstGeom>
          <a:solidFill>
            <a:srgbClr val="F7F8FC"/>
          </a:solidFill>
          <a:ln w="12700">
            <a:solidFill>
              <a:srgbClr val="CADCFC"/>
            </a:solidFill>
            <a:prstDash val="solid"/>
          </a:ln>
        </p:spPr>
      </p:sp>
      <p:sp>
        <p:nvSpPr>
          <p:cNvPr id="5" name="Shape 3"/>
          <p:cNvSpPr/>
          <p:nvPr/>
        </p:nvSpPr>
        <p:spPr>
          <a:xfrm>
            <a:off x="868680" y="1920240"/>
            <a:ext cx="640080" cy="640080"/>
          </a:xfrm>
          <a:prstGeom prst="ellipse">
            <a:avLst/>
          </a:prstGeom>
          <a:solidFill>
            <a:srgbClr val="1E2761"/>
          </a:solidFill>
          <a:ln/>
        </p:spPr>
      </p:sp>
      <p:sp>
        <p:nvSpPr>
          <p:cNvPr id="6" name="Text 4"/>
          <p:cNvSpPr/>
          <p:nvPr/>
        </p:nvSpPr>
        <p:spPr>
          <a:xfrm>
            <a:off x="868680" y="19202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H1</a:t>
            </a:r>
            <a:endParaRPr lang="en-US" sz="2000" dirty="0"/>
          </a:p>
        </p:txBody>
      </p:sp>
      <p:sp>
        <p:nvSpPr>
          <p:cNvPr id="7" name="Text 5"/>
          <p:cNvSpPr/>
          <p:nvPr/>
        </p:nvSpPr>
        <p:spPr>
          <a:xfrm>
            <a:off x="868680" y="2743200"/>
            <a:ext cx="4709160" cy="1188720"/>
          </a:xfrm>
          <a:prstGeom prst="rect">
            <a:avLst/>
          </a:prstGeom>
          <a:noFill/>
          <a:ln/>
        </p:spPr>
        <p:txBody>
          <a:bodyPr wrap="square" rtlCol="0" anchor="ctr"/>
          <a:lstStyle/>
          <a:p>
            <a:pPr marL="0" indent="0">
              <a:lnSpc>
                <a:spcPct val="115000"/>
              </a:lnSpc>
              <a:buNone/>
            </a:pPr>
            <a:r>
              <a:rPr lang="en-US" sz="1700" b="1" dirty="0">
                <a:solidFill>
                  <a:srgbClr val="1E2761"/>
                </a:solidFill>
                <a:latin typeface="Cambria" pitchFamily="34" charset="0"/>
                <a:ea typeface="Cambria" pitchFamily="34" charset="-122"/>
                <a:cs typeface="Cambria" pitchFamily="34" charset="-120"/>
              </a:rPr>
              <a:t>Debiasing produces statistically significant accuracy costs in both domains</a:t>
            </a:r>
            <a:endParaRPr lang="en-US" sz="1700" dirty="0"/>
          </a:p>
        </p:txBody>
      </p:sp>
      <p:sp>
        <p:nvSpPr>
          <p:cNvPr id="8" name="Text 6"/>
          <p:cNvSpPr/>
          <p:nvPr/>
        </p:nvSpPr>
        <p:spPr>
          <a:xfrm>
            <a:off x="868680" y="3977640"/>
            <a:ext cx="4709160" cy="1645920"/>
          </a:xfrm>
          <a:prstGeom prst="rect">
            <a:avLst/>
          </a:prstGeom>
          <a:noFill/>
          <a:ln/>
        </p:spPr>
        <p:txBody>
          <a:bodyPr wrap="square" rtlCol="0" anchor="ctr"/>
          <a:lstStyle/>
          <a:p>
            <a:pPr marL="0" indent="0">
              <a:lnSpc>
                <a:spcPct val="125000"/>
              </a:lnSpc>
              <a:buNone/>
            </a:pPr>
            <a:r>
              <a:rPr lang="en-US" sz="1350" dirty="0">
                <a:solidFill>
                  <a:srgbClr val="1A1A2E"/>
                </a:solidFill>
                <a:latin typeface="Calibri" pitchFamily="34" charset="0"/>
                <a:ea typeface="Calibri" pitchFamily="34" charset="-122"/>
                <a:cs typeface="Calibri" pitchFamily="34" charset="-120"/>
              </a:rPr>
              <a:t>Magnitude varies with the racial outcome base rate difference — consistent with the Chouldechova-Kleinberg impossibility theorem.</a:t>
            </a:r>
            <a:endParaRPr lang="en-US" sz="1350" dirty="0"/>
          </a:p>
        </p:txBody>
      </p:sp>
      <p:sp>
        <p:nvSpPr>
          <p:cNvPr id="9" name="Shape 7"/>
          <p:cNvSpPr/>
          <p:nvPr/>
        </p:nvSpPr>
        <p:spPr>
          <a:xfrm>
            <a:off x="6263640" y="1600200"/>
            <a:ext cx="5349240" cy="4206240"/>
          </a:xfrm>
          <a:prstGeom prst="roundRect">
            <a:avLst>
              <a:gd name="adj" fmla="val 2174"/>
            </a:avLst>
          </a:prstGeom>
          <a:solidFill>
            <a:srgbClr val="F7F8FC"/>
          </a:solidFill>
          <a:ln w="12700">
            <a:solidFill>
              <a:srgbClr val="CADCFC"/>
            </a:solidFill>
            <a:prstDash val="solid"/>
          </a:ln>
        </p:spPr>
      </p:sp>
      <p:sp>
        <p:nvSpPr>
          <p:cNvPr id="10" name="Shape 8"/>
          <p:cNvSpPr/>
          <p:nvPr/>
        </p:nvSpPr>
        <p:spPr>
          <a:xfrm>
            <a:off x="6583680" y="1920240"/>
            <a:ext cx="640080" cy="640080"/>
          </a:xfrm>
          <a:prstGeom prst="ellipse">
            <a:avLst/>
          </a:prstGeom>
          <a:solidFill>
            <a:srgbClr val="1E2761"/>
          </a:solidFill>
          <a:ln/>
        </p:spPr>
      </p:sp>
      <p:sp>
        <p:nvSpPr>
          <p:cNvPr id="11" name="Text 9"/>
          <p:cNvSpPr/>
          <p:nvPr/>
        </p:nvSpPr>
        <p:spPr>
          <a:xfrm>
            <a:off x="6583680" y="1920240"/>
            <a:ext cx="640080" cy="6400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H2</a:t>
            </a:r>
            <a:endParaRPr lang="en-US" sz="2000" dirty="0"/>
          </a:p>
        </p:txBody>
      </p:sp>
      <p:sp>
        <p:nvSpPr>
          <p:cNvPr id="12" name="Text 10"/>
          <p:cNvSpPr/>
          <p:nvPr/>
        </p:nvSpPr>
        <p:spPr>
          <a:xfrm>
            <a:off x="6583680" y="2743200"/>
            <a:ext cx="4709160" cy="1188720"/>
          </a:xfrm>
          <a:prstGeom prst="rect">
            <a:avLst/>
          </a:prstGeom>
          <a:noFill/>
          <a:ln/>
        </p:spPr>
        <p:txBody>
          <a:bodyPr wrap="square" rtlCol="0" anchor="ctr"/>
          <a:lstStyle/>
          <a:p>
            <a:pPr marL="0" indent="0">
              <a:lnSpc>
                <a:spcPct val="115000"/>
              </a:lnSpc>
              <a:buNone/>
            </a:pPr>
            <a:r>
              <a:rPr lang="en-US" sz="1700" b="1" dirty="0">
                <a:solidFill>
                  <a:srgbClr val="1E2761"/>
                </a:solidFill>
                <a:latin typeface="Cambria" pitchFamily="34" charset="0"/>
                <a:ea typeface="Cambria" pitchFamily="34" charset="-122"/>
                <a:cs typeface="Cambria" pitchFamily="34" charset="-120"/>
              </a:rPr>
              <a:t>Post-processing imposes the smallest cost; in-processing the largest</a:t>
            </a:r>
            <a:endParaRPr lang="en-US" sz="1700" dirty="0"/>
          </a:p>
        </p:txBody>
      </p:sp>
      <p:sp>
        <p:nvSpPr>
          <p:cNvPr id="13" name="Text 11"/>
          <p:cNvSpPr/>
          <p:nvPr/>
        </p:nvSpPr>
        <p:spPr>
          <a:xfrm>
            <a:off x="6583680" y="3977640"/>
            <a:ext cx="4709160" cy="1645920"/>
          </a:xfrm>
          <a:prstGeom prst="rect">
            <a:avLst/>
          </a:prstGeom>
          <a:noFill/>
          <a:ln/>
        </p:spPr>
        <p:txBody>
          <a:bodyPr wrap="square" rtlCol="0" anchor="ctr"/>
          <a:lstStyle/>
          <a:p>
            <a:pPr marL="0" indent="0">
              <a:lnSpc>
                <a:spcPct val="125000"/>
              </a:lnSpc>
              <a:buNone/>
            </a:pPr>
            <a:r>
              <a:rPr lang="en-US" sz="1350" dirty="0">
                <a:solidFill>
                  <a:srgbClr val="1A1A2E"/>
                </a:solidFill>
                <a:latin typeface="Calibri" pitchFamily="34" charset="0"/>
                <a:ea typeface="Calibri" pitchFamily="34" charset="-122"/>
                <a:cs typeface="Calibri" pitchFamily="34" charset="-120"/>
              </a:rPr>
              <a:t>Because post-processing only constrains the output decision boundary, while in-processing modifies the learning objective itself.</a:t>
            </a:r>
            <a:endParaRPr lang="en-US" sz="1350" dirty="0"/>
          </a:p>
        </p:txBody>
      </p:sp>
      <p:sp>
        <p:nvSpPr>
          <p:cNvPr id="14" name="Text 12"/>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Scoped for Rigour, Not Just Scale</a:t>
            </a:r>
            <a:endParaRPr lang="en-US" sz="3000" dirty="0"/>
          </a:p>
        </p:txBody>
      </p:sp>
      <p:sp>
        <p:nvSpPr>
          <p:cNvPr id="4" name="Shape 2"/>
          <p:cNvSpPr/>
          <p:nvPr/>
        </p:nvSpPr>
        <p:spPr>
          <a:xfrm>
            <a:off x="548640" y="1645920"/>
            <a:ext cx="2697480" cy="3383280"/>
          </a:xfrm>
          <a:prstGeom prst="roundRect">
            <a:avLst>
              <a:gd name="adj" fmla="val 3390"/>
            </a:avLst>
          </a:prstGeom>
          <a:solidFill>
            <a:srgbClr val="1E2761"/>
          </a:solidFill>
          <a:ln/>
        </p:spPr>
      </p:sp>
      <p:sp>
        <p:nvSpPr>
          <p:cNvPr id="5" name="Text 3"/>
          <p:cNvSpPr/>
          <p:nvPr/>
        </p:nvSpPr>
        <p:spPr>
          <a:xfrm>
            <a:off x="685800" y="1828800"/>
            <a:ext cx="2423160" cy="914400"/>
          </a:xfrm>
          <a:prstGeom prst="rect">
            <a:avLst/>
          </a:prstGeom>
          <a:noFill/>
          <a:ln/>
        </p:spPr>
        <p:txBody>
          <a:bodyPr wrap="square" rtlCol="0" anchor="ctr"/>
          <a:lstStyle/>
          <a:p>
            <a:pPr marL="0" indent="0" algn="ctr">
              <a:buNone/>
            </a:pPr>
            <a:r>
              <a:rPr lang="en-US" sz="4600" b="1" dirty="0">
                <a:solidFill>
                  <a:srgbClr val="E8604C"/>
                </a:solidFill>
                <a:latin typeface="Cambria" pitchFamily="34" charset="0"/>
                <a:ea typeface="Cambria" pitchFamily="34" charset="-122"/>
                <a:cs typeface="Cambria" pitchFamily="34" charset="-120"/>
              </a:rPr>
              <a:t>2</a:t>
            </a:r>
            <a:endParaRPr lang="en-US" sz="4600" dirty="0"/>
          </a:p>
        </p:txBody>
      </p:sp>
      <p:sp>
        <p:nvSpPr>
          <p:cNvPr id="6" name="Text 4"/>
          <p:cNvSpPr/>
          <p:nvPr/>
        </p:nvSpPr>
        <p:spPr>
          <a:xfrm>
            <a:off x="685800" y="2880360"/>
            <a:ext cx="242316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Domains</a:t>
            </a:r>
            <a:endParaRPr lang="en-US" sz="1500" dirty="0"/>
          </a:p>
        </p:txBody>
      </p:sp>
      <p:sp>
        <p:nvSpPr>
          <p:cNvPr id="7" name="Text 5"/>
          <p:cNvSpPr/>
          <p:nvPr/>
        </p:nvSpPr>
        <p:spPr>
          <a:xfrm>
            <a:off x="685800" y="3337560"/>
            <a:ext cx="2423160" cy="155448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Criminal justice (COMPAS) &amp;</a:t>
            </a:r>
            <a:endParaRPr lang="en-US" sz="1150" dirty="0"/>
          </a:p>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employment (Adult Income)</a:t>
            </a:r>
            <a:endParaRPr lang="en-US" sz="1150" dirty="0"/>
          </a:p>
        </p:txBody>
      </p:sp>
      <p:sp>
        <p:nvSpPr>
          <p:cNvPr id="8" name="Shape 6"/>
          <p:cNvSpPr/>
          <p:nvPr/>
        </p:nvSpPr>
        <p:spPr>
          <a:xfrm>
            <a:off x="3474720" y="1645920"/>
            <a:ext cx="2697480" cy="3383280"/>
          </a:xfrm>
          <a:prstGeom prst="roundRect">
            <a:avLst>
              <a:gd name="adj" fmla="val 3390"/>
            </a:avLst>
          </a:prstGeom>
          <a:solidFill>
            <a:srgbClr val="141B49"/>
          </a:solidFill>
          <a:ln/>
        </p:spPr>
      </p:sp>
      <p:sp>
        <p:nvSpPr>
          <p:cNvPr id="9" name="Text 7"/>
          <p:cNvSpPr/>
          <p:nvPr/>
        </p:nvSpPr>
        <p:spPr>
          <a:xfrm>
            <a:off x="3611880" y="1828800"/>
            <a:ext cx="2423160" cy="914400"/>
          </a:xfrm>
          <a:prstGeom prst="rect">
            <a:avLst/>
          </a:prstGeom>
          <a:noFill/>
          <a:ln/>
        </p:spPr>
        <p:txBody>
          <a:bodyPr wrap="square" rtlCol="0" anchor="ctr"/>
          <a:lstStyle/>
          <a:p>
            <a:pPr marL="0" indent="0" algn="ctr">
              <a:buNone/>
            </a:pPr>
            <a:r>
              <a:rPr lang="en-US" sz="4600" b="1" dirty="0">
                <a:solidFill>
                  <a:srgbClr val="E8604C"/>
                </a:solidFill>
                <a:latin typeface="Cambria" pitchFamily="34" charset="0"/>
                <a:ea typeface="Cambria" pitchFamily="34" charset="-122"/>
                <a:cs typeface="Cambria" pitchFamily="34" charset="-120"/>
              </a:rPr>
              <a:t>5</a:t>
            </a:r>
            <a:endParaRPr lang="en-US" sz="4600" dirty="0"/>
          </a:p>
        </p:txBody>
      </p:sp>
      <p:sp>
        <p:nvSpPr>
          <p:cNvPr id="10" name="Text 8"/>
          <p:cNvSpPr/>
          <p:nvPr/>
        </p:nvSpPr>
        <p:spPr>
          <a:xfrm>
            <a:off x="3611880" y="2880360"/>
            <a:ext cx="242316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Techniques</a:t>
            </a:r>
            <a:endParaRPr lang="en-US" sz="1500" dirty="0"/>
          </a:p>
        </p:txBody>
      </p:sp>
      <p:sp>
        <p:nvSpPr>
          <p:cNvPr id="11" name="Text 9"/>
          <p:cNvSpPr/>
          <p:nvPr/>
        </p:nvSpPr>
        <p:spPr>
          <a:xfrm>
            <a:off x="3611880" y="3337560"/>
            <a:ext cx="2423160" cy="155448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Spanning all 3 AIF360 categories:</a:t>
            </a:r>
            <a:endParaRPr lang="en-US" sz="1150" dirty="0"/>
          </a:p>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pre, in, and post-processing</a:t>
            </a:r>
            <a:endParaRPr lang="en-US" sz="1150" dirty="0"/>
          </a:p>
        </p:txBody>
      </p:sp>
      <p:sp>
        <p:nvSpPr>
          <p:cNvPr id="12" name="Shape 10"/>
          <p:cNvSpPr/>
          <p:nvPr/>
        </p:nvSpPr>
        <p:spPr>
          <a:xfrm>
            <a:off x="6400800" y="1645920"/>
            <a:ext cx="2697480" cy="3383280"/>
          </a:xfrm>
          <a:prstGeom prst="roundRect">
            <a:avLst>
              <a:gd name="adj" fmla="val 3390"/>
            </a:avLst>
          </a:prstGeom>
          <a:solidFill>
            <a:srgbClr val="1E2761"/>
          </a:solidFill>
          <a:ln/>
        </p:spPr>
      </p:sp>
      <p:sp>
        <p:nvSpPr>
          <p:cNvPr id="13" name="Text 11"/>
          <p:cNvSpPr/>
          <p:nvPr/>
        </p:nvSpPr>
        <p:spPr>
          <a:xfrm>
            <a:off x="6537960" y="1828800"/>
            <a:ext cx="2423160" cy="914400"/>
          </a:xfrm>
          <a:prstGeom prst="rect">
            <a:avLst/>
          </a:prstGeom>
          <a:noFill/>
          <a:ln/>
        </p:spPr>
        <p:txBody>
          <a:bodyPr wrap="square" rtlCol="0" anchor="ctr"/>
          <a:lstStyle/>
          <a:p>
            <a:pPr marL="0" indent="0" algn="ctr">
              <a:buNone/>
            </a:pPr>
            <a:r>
              <a:rPr lang="en-US" sz="4600" b="1" dirty="0">
                <a:solidFill>
                  <a:srgbClr val="E8604C"/>
                </a:solidFill>
                <a:latin typeface="Cambria" pitchFamily="34" charset="0"/>
                <a:ea typeface="Cambria" pitchFamily="34" charset="-122"/>
                <a:cs typeface="Cambria" pitchFamily="34" charset="-120"/>
              </a:rPr>
              <a:t>4</a:t>
            </a:r>
            <a:endParaRPr lang="en-US" sz="4600" dirty="0"/>
          </a:p>
        </p:txBody>
      </p:sp>
      <p:sp>
        <p:nvSpPr>
          <p:cNvPr id="14" name="Text 12"/>
          <p:cNvSpPr/>
          <p:nvPr/>
        </p:nvSpPr>
        <p:spPr>
          <a:xfrm>
            <a:off x="6537960" y="2880360"/>
            <a:ext cx="242316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Classifiers</a:t>
            </a:r>
            <a:endParaRPr lang="en-US" sz="1500" dirty="0"/>
          </a:p>
        </p:txBody>
      </p:sp>
      <p:sp>
        <p:nvSpPr>
          <p:cNvPr id="15" name="Text 13"/>
          <p:cNvSpPr/>
          <p:nvPr/>
        </p:nvSpPr>
        <p:spPr>
          <a:xfrm>
            <a:off x="6537960" y="3337560"/>
            <a:ext cx="2423160" cy="155448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Logistic Regression, Random Forest,</a:t>
            </a:r>
            <a:endParaRPr lang="en-US" sz="1150" dirty="0"/>
          </a:p>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XGBoost, MLP</a:t>
            </a:r>
            <a:endParaRPr lang="en-US" sz="1150" dirty="0"/>
          </a:p>
        </p:txBody>
      </p:sp>
      <p:sp>
        <p:nvSpPr>
          <p:cNvPr id="16" name="Shape 14"/>
          <p:cNvSpPr/>
          <p:nvPr/>
        </p:nvSpPr>
        <p:spPr>
          <a:xfrm>
            <a:off x="9326880" y="1645920"/>
            <a:ext cx="2697480" cy="3383280"/>
          </a:xfrm>
          <a:prstGeom prst="roundRect">
            <a:avLst>
              <a:gd name="adj" fmla="val 3390"/>
            </a:avLst>
          </a:prstGeom>
          <a:solidFill>
            <a:srgbClr val="141B49"/>
          </a:solidFill>
          <a:ln/>
        </p:spPr>
      </p:sp>
      <p:sp>
        <p:nvSpPr>
          <p:cNvPr id="17" name="Text 15"/>
          <p:cNvSpPr/>
          <p:nvPr/>
        </p:nvSpPr>
        <p:spPr>
          <a:xfrm>
            <a:off x="9464040" y="1828800"/>
            <a:ext cx="2423160" cy="914400"/>
          </a:xfrm>
          <a:prstGeom prst="rect">
            <a:avLst/>
          </a:prstGeom>
          <a:noFill/>
          <a:ln/>
        </p:spPr>
        <p:txBody>
          <a:bodyPr wrap="square" rtlCol="0" anchor="ctr"/>
          <a:lstStyle/>
          <a:p>
            <a:pPr marL="0" indent="0" algn="ctr">
              <a:buNone/>
            </a:pPr>
            <a:r>
              <a:rPr lang="en-US" sz="4600" b="1" dirty="0">
                <a:solidFill>
                  <a:srgbClr val="E8604C"/>
                </a:solidFill>
                <a:latin typeface="Cambria" pitchFamily="34" charset="0"/>
                <a:ea typeface="Cambria" pitchFamily="34" charset="-122"/>
                <a:cs typeface="Cambria" pitchFamily="34" charset="-120"/>
              </a:rPr>
              <a:t>126</a:t>
            </a:r>
            <a:endParaRPr lang="en-US" sz="4600" dirty="0"/>
          </a:p>
        </p:txBody>
      </p:sp>
      <p:sp>
        <p:nvSpPr>
          <p:cNvPr id="18" name="Text 16"/>
          <p:cNvSpPr/>
          <p:nvPr/>
        </p:nvSpPr>
        <p:spPr>
          <a:xfrm>
            <a:off x="9464040" y="2880360"/>
            <a:ext cx="2423160" cy="4114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Empirical runs</a:t>
            </a:r>
            <a:endParaRPr lang="en-US" sz="1500" dirty="0"/>
          </a:p>
        </p:txBody>
      </p:sp>
      <p:sp>
        <p:nvSpPr>
          <p:cNvPr id="19" name="Text 17"/>
          <p:cNvSpPr/>
          <p:nvPr/>
        </p:nvSpPr>
        <p:spPr>
          <a:xfrm>
            <a:off x="9464040" y="3337560"/>
            <a:ext cx="2423160" cy="155448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42 conditions × 3 seeds,</a:t>
            </a:r>
            <a:endParaRPr lang="en-US" sz="1150" dirty="0"/>
          </a:p>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mean ± SD reported</a:t>
            </a:r>
            <a:endParaRPr lang="en-US" sz="1150" dirty="0"/>
          </a:p>
        </p:txBody>
      </p:sp>
      <p:sp>
        <p:nvSpPr>
          <p:cNvPr id="20" name="Text 18"/>
          <p:cNvSpPr/>
          <p:nvPr/>
        </p:nvSpPr>
        <p:spPr>
          <a:xfrm>
            <a:off x="548640" y="5257800"/>
            <a:ext cx="11064240" cy="822960"/>
          </a:xfrm>
          <a:prstGeom prst="rect">
            <a:avLst/>
          </a:prstGeom>
          <a:noFill/>
          <a:ln/>
        </p:spPr>
        <p:txBody>
          <a:bodyPr wrap="square" rtlCol="0" anchor="ctr"/>
          <a:lstStyle/>
          <a:p>
            <a:pPr marL="0" indent="0">
              <a:lnSpc>
                <a:spcPct val="125000"/>
              </a:lnSpc>
              <a:buNone/>
            </a:pPr>
            <a:r>
              <a:rPr lang="en-US" sz="1250" i="1" dirty="0">
                <a:solidFill>
                  <a:srgbClr val="6B7280"/>
                </a:solidFill>
                <a:latin typeface="Calibri" pitchFamily="34" charset="0"/>
                <a:ea typeface="Calibri" pitchFamily="34" charset="-122"/>
                <a:cs typeface="Calibri" pitchFamily="34" charset="-120"/>
              </a:rPr>
              <a:t>Deliberately scoped to what a single-researcher MSc dissertation can execute and analyse rigorously — fixed hyperparameters, 3 seeds, and a reduced but taxonomy-complete technique set, rather than an unproven 108-condition sweep.</a:t>
            </a:r>
            <a:endParaRPr lang="en-US" sz="1250" dirty="0"/>
          </a:p>
        </p:txBody>
      </p:sp>
      <p:sp>
        <p:nvSpPr>
          <p:cNvPr id="21" name="Text 19"/>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DEBIASING TECHNIQUES</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Five Techniques Across Three Pipeline Stages</a:t>
            </a:r>
            <a:endParaRPr lang="en-US" sz="3000" dirty="0"/>
          </a:p>
        </p:txBody>
      </p:sp>
      <p:sp>
        <p:nvSpPr>
          <p:cNvPr id="4" name="Shape 2"/>
          <p:cNvSpPr/>
          <p:nvPr/>
        </p:nvSpPr>
        <p:spPr>
          <a:xfrm>
            <a:off x="548640" y="1645920"/>
            <a:ext cx="3520440" cy="4114800"/>
          </a:xfrm>
          <a:prstGeom prst="roundRect">
            <a:avLst>
              <a:gd name="adj" fmla="val 2597"/>
            </a:avLst>
          </a:prstGeom>
          <a:solidFill>
            <a:srgbClr val="F7F8FC"/>
          </a:solidFill>
          <a:ln w="12700">
            <a:solidFill>
              <a:srgbClr val="CADCFC"/>
            </a:solidFill>
            <a:prstDash val="solid"/>
          </a:ln>
        </p:spPr>
      </p:sp>
      <p:sp>
        <p:nvSpPr>
          <p:cNvPr id="5" name="Shape 3"/>
          <p:cNvSpPr/>
          <p:nvPr/>
        </p:nvSpPr>
        <p:spPr>
          <a:xfrm>
            <a:off x="822960" y="1920240"/>
            <a:ext cx="1188720" cy="457200"/>
          </a:xfrm>
          <a:prstGeom prst="roundRect">
            <a:avLst>
              <a:gd name="adj" fmla="val 16000"/>
            </a:avLst>
          </a:prstGeom>
          <a:solidFill>
            <a:srgbClr val="1E2761"/>
          </a:solidFill>
          <a:ln/>
        </p:spPr>
      </p:sp>
      <p:sp>
        <p:nvSpPr>
          <p:cNvPr id="6" name="Text 4"/>
          <p:cNvSpPr/>
          <p:nvPr/>
        </p:nvSpPr>
        <p:spPr>
          <a:xfrm>
            <a:off x="822960" y="1920240"/>
            <a:ext cx="11887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a:t>
            </a:r>
            <a:endParaRPr lang="en-US" sz="1300" dirty="0"/>
          </a:p>
        </p:txBody>
      </p:sp>
      <p:sp>
        <p:nvSpPr>
          <p:cNvPr id="7" name="Text 5"/>
          <p:cNvSpPr/>
          <p:nvPr/>
        </p:nvSpPr>
        <p:spPr>
          <a:xfrm>
            <a:off x="822960" y="2514600"/>
            <a:ext cx="2971800" cy="45720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Pre-processing</a:t>
            </a:r>
            <a:endParaRPr lang="en-US" sz="1700" dirty="0"/>
          </a:p>
        </p:txBody>
      </p:sp>
      <p:sp>
        <p:nvSpPr>
          <p:cNvPr id="8" name="Text 6"/>
          <p:cNvSpPr/>
          <p:nvPr/>
        </p:nvSpPr>
        <p:spPr>
          <a:xfrm>
            <a:off x="822960" y="3063240"/>
            <a:ext cx="2971800" cy="2468880"/>
          </a:xfrm>
          <a:prstGeom prst="rect">
            <a:avLst/>
          </a:prstGeom>
          <a:noFill/>
          <a:ln/>
        </p:spPr>
        <p:txBody>
          <a:bodyPr wrap="square" rtlCol="0" anchor="ctr"/>
          <a:lstStyle/>
          <a:p>
            <a:pPr marL="342900" indent="-342900">
              <a:lnSpc>
                <a:spcPct val="14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Reweighing</a:t>
            </a:r>
            <a:endParaRPr lang="en-US" sz="1350" dirty="0"/>
          </a:p>
          <a:p>
            <a:pPr marL="342900" indent="-342900">
              <a:lnSpc>
                <a:spcPct val="14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Disparate Impact Remover</a:t>
            </a:r>
            <a:endParaRPr lang="en-US" sz="1350" dirty="0"/>
          </a:p>
        </p:txBody>
      </p:sp>
      <p:sp>
        <p:nvSpPr>
          <p:cNvPr id="9" name="Shape 7"/>
          <p:cNvSpPr/>
          <p:nvPr/>
        </p:nvSpPr>
        <p:spPr>
          <a:xfrm>
            <a:off x="4389120" y="1645920"/>
            <a:ext cx="3520440" cy="4114800"/>
          </a:xfrm>
          <a:prstGeom prst="roundRect">
            <a:avLst>
              <a:gd name="adj" fmla="val 2597"/>
            </a:avLst>
          </a:prstGeom>
          <a:solidFill>
            <a:srgbClr val="F7F8FC"/>
          </a:solidFill>
          <a:ln w="12700">
            <a:solidFill>
              <a:srgbClr val="CADCFC"/>
            </a:solidFill>
            <a:prstDash val="solid"/>
          </a:ln>
        </p:spPr>
      </p:sp>
      <p:sp>
        <p:nvSpPr>
          <p:cNvPr id="10" name="Shape 8"/>
          <p:cNvSpPr/>
          <p:nvPr/>
        </p:nvSpPr>
        <p:spPr>
          <a:xfrm>
            <a:off x="4663440" y="1920240"/>
            <a:ext cx="1188720" cy="457200"/>
          </a:xfrm>
          <a:prstGeom prst="roundRect">
            <a:avLst>
              <a:gd name="adj" fmla="val 16000"/>
            </a:avLst>
          </a:prstGeom>
          <a:solidFill>
            <a:srgbClr val="E8604C"/>
          </a:solidFill>
          <a:ln/>
        </p:spPr>
      </p:sp>
      <p:sp>
        <p:nvSpPr>
          <p:cNvPr id="11" name="Text 9"/>
          <p:cNvSpPr/>
          <p:nvPr/>
        </p:nvSpPr>
        <p:spPr>
          <a:xfrm>
            <a:off x="4663440" y="1920240"/>
            <a:ext cx="11887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a:t>
            </a:r>
            <a:endParaRPr lang="en-US" sz="1300" dirty="0"/>
          </a:p>
        </p:txBody>
      </p:sp>
      <p:sp>
        <p:nvSpPr>
          <p:cNvPr id="12" name="Text 10"/>
          <p:cNvSpPr/>
          <p:nvPr/>
        </p:nvSpPr>
        <p:spPr>
          <a:xfrm>
            <a:off x="4663440" y="2514600"/>
            <a:ext cx="2971800" cy="45720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In-processing</a:t>
            </a:r>
            <a:endParaRPr lang="en-US" sz="1700" dirty="0"/>
          </a:p>
        </p:txBody>
      </p:sp>
      <p:sp>
        <p:nvSpPr>
          <p:cNvPr id="13" name="Text 11"/>
          <p:cNvSpPr/>
          <p:nvPr/>
        </p:nvSpPr>
        <p:spPr>
          <a:xfrm>
            <a:off x="4663440" y="3063240"/>
            <a:ext cx="2971800" cy="2468880"/>
          </a:xfrm>
          <a:prstGeom prst="rect">
            <a:avLst/>
          </a:prstGeom>
          <a:noFill/>
          <a:ln/>
        </p:spPr>
        <p:txBody>
          <a:bodyPr wrap="square" rtlCol="0" anchor="ctr"/>
          <a:lstStyle/>
          <a:p>
            <a:pPr marL="342900" indent="-342900">
              <a:lnSpc>
                <a:spcPct val="14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Prejudice Remover</a:t>
            </a:r>
            <a:endParaRPr lang="en-US" sz="1350" dirty="0"/>
          </a:p>
        </p:txBody>
      </p:sp>
      <p:sp>
        <p:nvSpPr>
          <p:cNvPr id="14" name="Shape 12"/>
          <p:cNvSpPr/>
          <p:nvPr/>
        </p:nvSpPr>
        <p:spPr>
          <a:xfrm>
            <a:off x="8229600" y="1645920"/>
            <a:ext cx="3520440" cy="4114800"/>
          </a:xfrm>
          <a:prstGeom prst="roundRect">
            <a:avLst>
              <a:gd name="adj" fmla="val 2597"/>
            </a:avLst>
          </a:prstGeom>
          <a:solidFill>
            <a:srgbClr val="F7F8FC"/>
          </a:solidFill>
          <a:ln w="12700">
            <a:solidFill>
              <a:srgbClr val="CADCFC"/>
            </a:solidFill>
            <a:prstDash val="solid"/>
          </a:ln>
        </p:spPr>
      </p:sp>
      <p:sp>
        <p:nvSpPr>
          <p:cNvPr id="15" name="Shape 13"/>
          <p:cNvSpPr/>
          <p:nvPr/>
        </p:nvSpPr>
        <p:spPr>
          <a:xfrm>
            <a:off x="8503920" y="1920240"/>
            <a:ext cx="1188720" cy="457200"/>
          </a:xfrm>
          <a:prstGeom prst="roundRect">
            <a:avLst>
              <a:gd name="adj" fmla="val 16000"/>
            </a:avLst>
          </a:prstGeom>
          <a:solidFill>
            <a:srgbClr val="1E2761"/>
          </a:solidFill>
          <a:ln/>
        </p:spPr>
      </p:sp>
      <p:sp>
        <p:nvSpPr>
          <p:cNvPr id="16" name="Text 14"/>
          <p:cNvSpPr/>
          <p:nvPr/>
        </p:nvSpPr>
        <p:spPr>
          <a:xfrm>
            <a:off x="8503920" y="1920240"/>
            <a:ext cx="11887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POST</a:t>
            </a:r>
            <a:endParaRPr lang="en-US" sz="1300" dirty="0"/>
          </a:p>
        </p:txBody>
      </p:sp>
      <p:sp>
        <p:nvSpPr>
          <p:cNvPr id="17" name="Text 15"/>
          <p:cNvSpPr/>
          <p:nvPr/>
        </p:nvSpPr>
        <p:spPr>
          <a:xfrm>
            <a:off x="8503920" y="2514600"/>
            <a:ext cx="2971800" cy="45720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Post-processing</a:t>
            </a:r>
            <a:endParaRPr lang="en-US" sz="1700" dirty="0"/>
          </a:p>
        </p:txBody>
      </p:sp>
      <p:sp>
        <p:nvSpPr>
          <p:cNvPr id="18" name="Text 16"/>
          <p:cNvSpPr/>
          <p:nvPr/>
        </p:nvSpPr>
        <p:spPr>
          <a:xfrm>
            <a:off x="8503920" y="3063240"/>
            <a:ext cx="2971800" cy="2468880"/>
          </a:xfrm>
          <a:prstGeom prst="rect">
            <a:avLst/>
          </a:prstGeom>
          <a:noFill/>
          <a:ln/>
        </p:spPr>
        <p:txBody>
          <a:bodyPr wrap="square" rtlCol="0" anchor="ctr"/>
          <a:lstStyle/>
          <a:p>
            <a:pPr marL="342900" indent="-342900">
              <a:lnSpc>
                <a:spcPct val="14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Calibrated Equalised Odds</a:t>
            </a:r>
            <a:endParaRPr lang="en-US" sz="1350" dirty="0"/>
          </a:p>
          <a:p>
            <a:pPr marL="342900" indent="-342900">
              <a:lnSpc>
                <a:spcPct val="14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Reject Option Classification</a:t>
            </a:r>
            <a:endParaRPr lang="en-US" sz="1350" dirty="0"/>
          </a:p>
        </p:txBody>
      </p:sp>
      <p:sp>
        <p:nvSpPr>
          <p:cNvPr id="19" name="Text 17"/>
          <p:cNvSpPr/>
          <p:nvPr/>
        </p:nvSpPr>
        <p:spPr>
          <a:xfrm>
            <a:off x="548640" y="5943600"/>
            <a:ext cx="11064240" cy="640080"/>
          </a:xfrm>
          <a:prstGeom prst="rect">
            <a:avLst/>
          </a:prstGeom>
          <a:noFill/>
          <a:ln/>
        </p:spPr>
        <p:txBody>
          <a:bodyPr wrap="square" rtlCol="0" anchor="ctr"/>
          <a:lstStyle/>
          <a:p>
            <a:pPr marL="0" indent="0">
              <a:lnSpc>
                <a:spcPct val="120000"/>
              </a:lnSpc>
              <a:buNone/>
            </a:pPr>
            <a:r>
              <a:rPr lang="en-US" sz="1150" i="1" dirty="0">
                <a:solidFill>
                  <a:srgbClr val="6B7280"/>
                </a:solidFill>
                <a:latin typeface="Calibri" pitchFamily="34" charset="0"/>
                <a:ea typeface="Calibri" pitchFamily="34" charset="-122"/>
                <a:cs typeface="Calibri" pitchFamily="34" charset="-120"/>
              </a:rPr>
              <a:t>In-processing constrains the classifier by construction (Prejudice Remover is a regularised logistic model) — reported as a single fixed-architecture condition rather than crossed with all four classifiers.</a:t>
            </a:r>
            <a:endParaRPr lang="en-US" sz="1150" dirty="0"/>
          </a:p>
        </p:txBody>
      </p:sp>
      <p:sp>
        <p:nvSpPr>
          <p:cNvPr id="20" name="Text 18"/>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 Real, Public Datasets — Same Protected Attribute</a:t>
            </a:r>
            <a:endParaRPr lang="en-US" sz="3000" dirty="0"/>
          </a:p>
        </p:txBody>
      </p:sp>
      <p:sp>
        <p:nvSpPr>
          <p:cNvPr id="4" name="Shape 2"/>
          <p:cNvSpPr/>
          <p:nvPr/>
        </p:nvSpPr>
        <p:spPr>
          <a:xfrm>
            <a:off x="548640" y="1600200"/>
            <a:ext cx="5349240" cy="4206240"/>
          </a:xfrm>
          <a:prstGeom prst="roundRect">
            <a:avLst>
              <a:gd name="adj" fmla="val 2174"/>
            </a:avLst>
          </a:prstGeom>
          <a:solidFill>
            <a:srgbClr val="FFFFFF"/>
          </a:solidFill>
          <a:ln w="19050">
            <a:solidFill>
              <a:srgbClr val="1E2761"/>
            </a:solidFill>
            <a:prstDash val="solid"/>
          </a:ln>
        </p:spPr>
      </p:sp>
      <p:sp>
        <p:nvSpPr>
          <p:cNvPr id="5" name="Text 3"/>
          <p:cNvSpPr/>
          <p:nvPr/>
        </p:nvSpPr>
        <p:spPr>
          <a:xfrm>
            <a:off x="868680" y="1828800"/>
            <a:ext cx="4709160" cy="320040"/>
          </a:xfrm>
          <a:prstGeom prst="rect">
            <a:avLst/>
          </a:prstGeom>
          <a:noFill/>
          <a:ln/>
        </p:spPr>
        <p:txBody>
          <a:bodyPr wrap="square" rtlCol="0" anchor="ctr"/>
          <a:lstStyle/>
          <a:p>
            <a:pPr marL="0" indent="0">
              <a:buNone/>
            </a:pPr>
            <a:r>
              <a:rPr lang="en-US" sz="1100" b="1" kern="0" spc="100" dirty="0">
                <a:solidFill>
                  <a:srgbClr val="E8604C"/>
                </a:solidFill>
                <a:latin typeface="Calibri" pitchFamily="34" charset="0"/>
                <a:ea typeface="Calibri" pitchFamily="34" charset="-122"/>
                <a:cs typeface="Calibri" pitchFamily="34" charset="-120"/>
              </a:rPr>
              <a:t>CRIMINAL JUSTICE</a:t>
            </a:r>
            <a:endParaRPr lang="en-US" sz="1100" dirty="0"/>
          </a:p>
        </p:txBody>
      </p:sp>
      <p:sp>
        <p:nvSpPr>
          <p:cNvPr id="6" name="Text 4"/>
          <p:cNvSpPr/>
          <p:nvPr/>
        </p:nvSpPr>
        <p:spPr>
          <a:xfrm>
            <a:off x="868680" y="2103120"/>
            <a:ext cx="4709160" cy="54864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COMPAS</a:t>
            </a:r>
            <a:endParaRPr lang="en-US" sz="2400" dirty="0"/>
          </a:p>
        </p:txBody>
      </p:sp>
      <p:sp>
        <p:nvSpPr>
          <p:cNvPr id="7" name="Text 5"/>
          <p:cNvSpPr/>
          <p:nvPr/>
        </p:nvSpPr>
        <p:spPr>
          <a:xfrm>
            <a:off x="868680" y="2880360"/>
            <a:ext cx="4709160" cy="274320"/>
          </a:xfrm>
          <a:prstGeom prst="rect">
            <a:avLst/>
          </a:prstGeom>
          <a:noFill/>
          <a:ln/>
        </p:spPr>
        <p:txBody>
          <a:bodyPr wrap="square" rtlCol="0" anchor="ctr"/>
          <a:lstStyle/>
          <a:p>
            <a:pPr marL="0" indent="0">
              <a:buNone/>
            </a:pPr>
            <a:r>
              <a:rPr lang="en-US" sz="1050" b="1" kern="0" spc="50" dirty="0">
                <a:solidFill>
                  <a:srgbClr val="6B7280"/>
                </a:solidFill>
                <a:latin typeface="Calibri" pitchFamily="34" charset="0"/>
                <a:ea typeface="Calibri" pitchFamily="34" charset="-122"/>
                <a:cs typeface="Calibri" pitchFamily="34" charset="-120"/>
              </a:rPr>
              <a:t>RECORDS</a:t>
            </a:r>
            <a:endParaRPr lang="en-US" sz="1050" dirty="0"/>
          </a:p>
        </p:txBody>
      </p:sp>
      <p:sp>
        <p:nvSpPr>
          <p:cNvPr id="8" name="Text 6"/>
          <p:cNvSpPr/>
          <p:nvPr/>
        </p:nvSpPr>
        <p:spPr>
          <a:xfrm>
            <a:off x="868680" y="3172968"/>
            <a:ext cx="4709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5,278</a:t>
            </a:r>
            <a:endParaRPr lang="en-US" sz="1400" dirty="0"/>
          </a:p>
        </p:txBody>
      </p:sp>
      <p:sp>
        <p:nvSpPr>
          <p:cNvPr id="9" name="Text 7"/>
          <p:cNvSpPr/>
          <p:nvPr/>
        </p:nvSpPr>
        <p:spPr>
          <a:xfrm>
            <a:off x="868680" y="3813048"/>
            <a:ext cx="4709160" cy="274320"/>
          </a:xfrm>
          <a:prstGeom prst="rect">
            <a:avLst/>
          </a:prstGeom>
          <a:noFill/>
          <a:ln/>
        </p:spPr>
        <p:txBody>
          <a:bodyPr wrap="square" rtlCol="0" anchor="ctr"/>
          <a:lstStyle/>
          <a:p>
            <a:pPr marL="0" indent="0">
              <a:buNone/>
            </a:pPr>
            <a:r>
              <a:rPr lang="en-US" sz="1050" b="1" kern="0" spc="50" dirty="0">
                <a:solidFill>
                  <a:srgbClr val="6B7280"/>
                </a:solidFill>
                <a:latin typeface="Calibri" pitchFamily="34" charset="0"/>
                <a:ea typeface="Calibri" pitchFamily="34" charset="-122"/>
                <a:cs typeface="Calibri" pitchFamily="34" charset="-120"/>
              </a:rPr>
              <a:t>TASK</a:t>
            </a:r>
            <a:endParaRPr lang="en-US" sz="1050" dirty="0"/>
          </a:p>
        </p:txBody>
      </p:sp>
      <p:sp>
        <p:nvSpPr>
          <p:cNvPr id="10" name="Text 8"/>
          <p:cNvSpPr/>
          <p:nvPr/>
        </p:nvSpPr>
        <p:spPr>
          <a:xfrm>
            <a:off x="868680" y="4105656"/>
            <a:ext cx="4709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Two-year recidivism (non-recidivism = favourable)</a:t>
            </a:r>
            <a:endParaRPr lang="en-US" sz="1400" dirty="0"/>
          </a:p>
        </p:txBody>
      </p:sp>
      <p:sp>
        <p:nvSpPr>
          <p:cNvPr id="11" name="Text 9"/>
          <p:cNvSpPr/>
          <p:nvPr/>
        </p:nvSpPr>
        <p:spPr>
          <a:xfrm>
            <a:off x="868680" y="4745736"/>
            <a:ext cx="4709160" cy="274320"/>
          </a:xfrm>
          <a:prstGeom prst="rect">
            <a:avLst/>
          </a:prstGeom>
          <a:noFill/>
          <a:ln/>
        </p:spPr>
        <p:txBody>
          <a:bodyPr wrap="square" rtlCol="0" anchor="ctr"/>
          <a:lstStyle/>
          <a:p>
            <a:pPr marL="0" indent="0">
              <a:buNone/>
            </a:pPr>
            <a:r>
              <a:rPr lang="en-US" sz="1050" b="1" kern="0" spc="50" dirty="0">
                <a:solidFill>
                  <a:srgbClr val="6B7280"/>
                </a:solidFill>
                <a:latin typeface="Calibri" pitchFamily="34" charset="0"/>
                <a:ea typeface="Calibri" pitchFamily="34" charset="-122"/>
                <a:cs typeface="Calibri" pitchFamily="34" charset="-120"/>
              </a:rPr>
              <a:t>BASE RATE GAP</a:t>
            </a:r>
            <a:endParaRPr lang="en-US" sz="1050" dirty="0"/>
          </a:p>
        </p:txBody>
      </p:sp>
      <p:sp>
        <p:nvSpPr>
          <p:cNvPr id="12" name="Text 10"/>
          <p:cNvSpPr/>
          <p:nvPr/>
        </p:nvSpPr>
        <p:spPr>
          <a:xfrm>
            <a:off x="868680" y="5038344"/>
            <a:ext cx="4709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0.132 (White 0.609 vs Black 0.477)</a:t>
            </a:r>
            <a:endParaRPr lang="en-US" sz="1400" dirty="0"/>
          </a:p>
        </p:txBody>
      </p:sp>
      <p:sp>
        <p:nvSpPr>
          <p:cNvPr id="13" name="Shape 11"/>
          <p:cNvSpPr/>
          <p:nvPr/>
        </p:nvSpPr>
        <p:spPr>
          <a:xfrm>
            <a:off x="6263640" y="1600200"/>
            <a:ext cx="5349240" cy="4206240"/>
          </a:xfrm>
          <a:prstGeom prst="roundRect">
            <a:avLst>
              <a:gd name="adj" fmla="val 2174"/>
            </a:avLst>
          </a:prstGeom>
          <a:solidFill>
            <a:srgbClr val="FFFFFF"/>
          </a:solidFill>
          <a:ln w="19050">
            <a:solidFill>
              <a:srgbClr val="1E2761"/>
            </a:solidFill>
            <a:prstDash val="solid"/>
          </a:ln>
        </p:spPr>
      </p:sp>
      <p:sp>
        <p:nvSpPr>
          <p:cNvPr id="14" name="Text 12"/>
          <p:cNvSpPr/>
          <p:nvPr/>
        </p:nvSpPr>
        <p:spPr>
          <a:xfrm>
            <a:off x="6583680" y="1828800"/>
            <a:ext cx="4709160" cy="320040"/>
          </a:xfrm>
          <a:prstGeom prst="rect">
            <a:avLst/>
          </a:prstGeom>
          <a:noFill/>
          <a:ln/>
        </p:spPr>
        <p:txBody>
          <a:bodyPr wrap="square" rtlCol="0" anchor="ctr"/>
          <a:lstStyle/>
          <a:p>
            <a:pPr marL="0" indent="0">
              <a:buNone/>
            </a:pPr>
            <a:r>
              <a:rPr lang="en-US" sz="1100" b="1" kern="0" spc="100" dirty="0">
                <a:solidFill>
                  <a:srgbClr val="E8604C"/>
                </a:solidFill>
                <a:latin typeface="Calibri" pitchFamily="34" charset="0"/>
                <a:ea typeface="Calibri" pitchFamily="34" charset="-122"/>
                <a:cs typeface="Calibri" pitchFamily="34" charset="-120"/>
              </a:rPr>
              <a:t>EMPLOYMENT</a:t>
            </a:r>
            <a:endParaRPr lang="en-US" sz="1100" dirty="0"/>
          </a:p>
        </p:txBody>
      </p:sp>
      <p:sp>
        <p:nvSpPr>
          <p:cNvPr id="15" name="Text 13"/>
          <p:cNvSpPr/>
          <p:nvPr/>
        </p:nvSpPr>
        <p:spPr>
          <a:xfrm>
            <a:off x="6583680" y="2103120"/>
            <a:ext cx="4709160" cy="54864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Adult Income</a:t>
            </a:r>
            <a:endParaRPr lang="en-US" sz="2400" dirty="0"/>
          </a:p>
        </p:txBody>
      </p:sp>
      <p:sp>
        <p:nvSpPr>
          <p:cNvPr id="16" name="Text 14"/>
          <p:cNvSpPr/>
          <p:nvPr/>
        </p:nvSpPr>
        <p:spPr>
          <a:xfrm>
            <a:off x="6583680" y="2880360"/>
            <a:ext cx="4709160" cy="274320"/>
          </a:xfrm>
          <a:prstGeom prst="rect">
            <a:avLst/>
          </a:prstGeom>
          <a:noFill/>
          <a:ln/>
        </p:spPr>
        <p:txBody>
          <a:bodyPr wrap="square" rtlCol="0" anchor="ctr"/>
          <a:lstStyle/>
          <a:p>
            <a:pPr marL="0" indent="0">
              <a:buNone/>
            </a:pPr>
            <a:r>
              <a:rPr lang="en-US" sz="1050" b="1" kern="0" spc="50" dirty="0">
                <a:solidFill>
                  <a:srgbClr val="6B7280"/>
                </a:solidFill>
                <a:latin typeface="Calibri" pitchFamily="34" charset="0"/>
                <a:ea typeface="Calibri" pitchFamily="34" charset="-122"/>
                <a:cs typeface="Calibri" pitchFamily="34" charset="-120"/>
              </a:rPr>
              <a:t>RECORDS</a:t>
            </a:r>
            <a:endParaRPr lang="en-US" sz="1050" dirty="0"/>
          </a:p>
        </p:txBody>
      </p:sp>
      <p:sp>
        <p:nvSpPr>
          <p:cNvPr id="17" name="Text 15"/>
          <p:cNvSpPr/>
          <p:nvPr/>
        </p:nvSpPr>
        <p:spPr>
          <a:xfrm>
            <a:off x="6583680" y="3172968"/>
            <a:ext cx="4709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43,800</a:t>
            </a:r>
            <a:endParaRPr lang="en-US" sz="1400" dirty="0"/>
          </a:p>
        </p:txBody>
      </p:sp>
      <p:sp>
        <p:nvSpPr>
          <p:cNvPr id="18" name="Text 16"/>
          <p:cNvSpPr/>
          <p:nvPr/>
        </p:nvSpPr>
        <p:spPr>
          <a:xfrm>
            <a:off x="6583680" y="3813048"/>
            <a:ext cx="4709160" cy="274320"/>
          </a:xfrm>
          <a:prstGeom prst="rect">
            <a:avLst/>
          </a:prstGeom>
          <a:noFill/>
          <a:ln/>
        </p:spPr>
        <p:txBody>
          <a:bodyPr wrap="square" rtlCol="0" anchor="ctr"/>
          <a:lstStyle/>
          <a:p>
            <a:pPr marL="0" indent="0">
              <a:buNone/>
            </a:pPr>
            <a:r>
              <a:rPr lang="en-US" sz="1050" b="1" kern="0" spc="50" dirty="0">
                <a:solidFill>
                  <a:srgbClr val="6B7280"/>
                </a:solidFill>
                <a:latin typeface="Calibri" pitchFamily="34" charset="0"/>
                <a:ea typeface="Calibri" pitchFamily="34" charset="-122"/>
                <a:cs typeface="Calibri" pitchFamily="34" charset="-120"/>
              </a:rPr>
              <a:t>TASK</a:t>
            </a:r>
            <a:endParaRPr lang="en-US" sz="1050" dirty="0"/>
          </a:p>
        </p:txBody>
      </p:sp>
      <p:sp>
        <p:nvSpPr>
          <p:cNvPr id="19" name="Text 17"/>
          <p:cNvSpPr/>
          <p:nvPr/>
        </p:nvSpPr>
        <p:spPr>
          <a:xfrm>
            <a:off x="6583680" y="4105656"/>
            <a:ext cx="4709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Income &gt; $50K (favourable)</a:t>
            </a:r>
            <a:endParaRPr lang="en-US" sz="1400" dirty="0"/>
          </a:p>
        </p:txBody>
      </p:sp>
      <p:sp>
        <p:nvSpPr>
          <p:cNvPr id="20" name="Text 18"/>
          <p:cNvSpPr/>
          <p:nvPr/>
        </p:nvSpPr>
        <p:spPr>
          <a:xfrm>
            <a:off x="6583680" y="4745736"/>
            <a:ext cx="4709160" cy="274320"/>
          </a:xfrm>
          <a:prstGeom prst="rect">
            <a:avLst/>
          </a:prstGeom>
          <a:noFill/>
          <a:ln/>
        </p:spPr>
        <p:txBody>
          <a:bodyPr wrap="square" rtlCol="0" anchor="ctr"/>
          <a:lstStyle/>
          <a:p>
            <a:pPr marL="0" indent="0">
              <a:buNone/>
            </a:pPr>
            <a:r>
              <a:rPr lang="en-US" sz="1050" b="1" kern="0" spc="50" dirty="0">
                <a:solidFill>
                  <a:srgbClr val="6B7280"/>
                </a:solidFill>
                <a:latin typeface="Calibri" pitchFamily="34" charset="0"/>
                <a:ea typeface="Calibri" pitchFamily="34" charset="-122"/>
                <a:cs typeface="Calibri" pitchFamily="34" charset="-120"/>
              </a:rPr>
              <a:t>BASE RATE GAP</a:t>
            </a:r>
            <a:endParaRPr lang="en-US" sz="1050" dirty="0"/>
          </a:p>
        </p:txBody>
      </p:sp>
      <p:sp>
        <p:nvSpPr>
          <p:cNvPr id="21" name="Text 19"/>
          <p:cNvSpPr/>
          <p:nvPr/>
        </p:nvSpPr>
        <p:spPr>
          <a:xfrm>
            <a:off x="6583680" y="5038344"/>
            <a:ext cx="4709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0.136 (White 0.263 vs Black 0.127)</a:t>
            </a:r>
            <a:endParaRPr lang="en-US" sz="1400" dirty="0"/>
          </a:p>
        </p:txBody>
      </p:sp>
      <p:sp>
        <p:nvSpPr>
          <p:cNvPr id="22" name="Text 20"/>
          <p:cNvSpPr/>
          <p:nvPr/>
        </p:nvSpPr>
        <p:spPr>
          <a:xfrm>
            <a:off x="548640" y="5989320"/>
            <a:ext cx="11064240" cy="594360"/>
          </a:xfrm>
          <a:prstGeom prst="rect">
            <a:avLst/>
          </a:prstGeom>
          <a:noFill/>
          <a:ln/>
        </p:spPr>
        <p:txBody>
          <a:bodyPr wrap="square" rtlCol="0" anchor="ctr"/>
          <a:lstStyle/>
          <a:p>
            <a:pPr marL="0" indent="0">
              <a:lnSpc>
                <a:spcPct val="120000"/>
              </a:lnSpc>
              <a:buNone/>
            </a:pPr>
            <a:r>
              <a:rPr lang="en-US" sz="1150" i="1" dirty="0">
                <a:solidFill>
                  <a:srgbClr val="6B7280"/>
                </a:solidFill>
                <a:latin typeface="Calibri" pitchFamily="34" charset="0"/>
                <a:ea typeface="Calibri" pitchFamily="34" charset="-122"/>
                <a:cs typeface="Calibri" pitchFamily="34" charset="-120"/>
              </a:rPr>
              <a:t>Race is fixed as the protected attribute (Black vs. White) in both datasets — removing the confound where prior cross-domain studies varied the protected attribute alongside the domain.</a:t>
            </a:r>
            <a:endParaRPr lang="en-US" sz="1150" dirty="0"/>
          </a:p>
        </p:txBody>
      </p:sp>
      <p:sp>
        <p:nvSpPr>
          <p:cNvPr id="23" name="Text 21"/>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Accuracy Cost Is Real — and Technique-Specific</a:t>
            </a:r>
            <a:endParaRPr lang="en-US" sz="3000" dirty="0"/>
          </a:p>
        </p:txBody>
      </p:sp>
      <p:graphicFrame>
        <p:nvGraphicFramePr>
          <p:cNvPr id="4" name="Chart 0"/>
          <p:cNvGraphicFramePr/>
          <p:nvPr/>
        </p:nvGraphicFramePr>
        <p:xfrm>
          <a:off x="548640" y="1645920"/>
          <a:ext cx="11064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No Single Technique Dominates the Frontier</a:t>
            </a:r>
            <a:endParaRPr lang="en-US" sz="3000" dirty="0"/>
          </a:p>
        </p:txBody>
      </p:sp>
      <p:pic>
        <p:nvPicPr>
          <p:cNvPr id="4" name="Image 0" descr="/home/claude/rebalance/pareto_full.png"/>
          <p:cNvPicPr>
            <a:picLocks noChangeAspect="1"/>
          </p:cNvPicPr>
          <p:nvPr/>
        </p:nvPicPr>
        <p:blipFill>
          <a:blip r:embed="rId3"/>
          <a:stretch>
            <a:fillRect/>
          </a:stretch>
        </p:blipFill>
        <p:spPr>
          <a:xfrm>
            <a:off x="1792224" y="1600200"/>
            <a:ext cx="8604504" cy="4160520"/>
          </a:xfrm>
          <a:prstGeom prst="rect">
            <a:avLst/>
          </a:prstGeom>
        </p:spPr>
      </p:pic>
      <p:sp>
        <p:nvSpPr>
          <p:cNvPr id="5" name="Text 2"/>
          <p:cNvSpPr/>
          <p:nvPr/>
        </p:nvSpPr>
        <p:spPr>
          <a:xfrm>
            <a:off x="548640" y="5897880"/>
            <a:ext cx="11064240" cy="685800"/>
          </a:xfrm>
          <a:prstGeom prst="rect">
            <a:avLst/>
          </a:prstGeom>
          <a:noFill/>
          <a:ln/>
        </p:spPr>
        <p:txBody>
          <a:bodyPr wrap="square" rtlCol="0" anchor="ctr"/>
          <a:lstStyle/>
          <a:p>
            <a:pPr marL="0" indent="0">
              <a:lnSpc>
                <a:spcPct val="120000"/>
              </a:lnSpc>
              <a:buNone/>
            </a:pPr>
            <a:r>
              <a:rPr lang="en-US" sz="1150" i="1" dirty="0">
                <a:solidFill>
                  <a:srgbClr val="6B7280"/>
                </a:solidFill>
                <a:latin typeface="Calibri" pitchFamily="34" charset="0"/>
                <a:ea typeface="Calibri" pitchFamily="34" charset="-122"/>
                <a:cs typeface="Calibri" pitchFamily="34" charset="-120"/>
              </a:rPr>
              <a:t>Non-dominated Pareto points (Table II): COMPAS is anchored by Reweighing and Reject Option at very low disparity; Adult by Reject Option at the lowest disparity, extending to the unmitigated baseline at highest accuracy. The achievable trade-off is a curve, not a single best answer.</a:t>
            </a:r>
            <a:endParaRPr lang="en-US" sz="1150" dirty="0"/>
          </a:p>
        </p:txBody>
      </p:sp>
      <p:sp>
        <p:nvSpPr>
          <p:cNvPr id="6" name="Text 3"/>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KEY FINDING</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Same Technique Can Help or Hurt, Depending on Domain</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Calibrated Equalised Odds</a:t>
            </a:r>
            <a:endParaRPr lang="en-US" sz="2000" dirty="0"/>
          </a:p>
        </p:txBody>
      </p:sp>
      <p:sp>
        <p:nvSpPr>
          <p:cNvPr id="5" name="Shape 3"/>
          <p:cNvSpPr/>
          <p:nvPr/>
        </p:nvSpPr>
        <p:spPr>
          <a:xfrm>
            <a:off x="548640" y="2331720"/>
            <a:ext cx="5349240" cy="3200400"/>
          </a:xfrm>
          <a:prstGeom prst="roundRect">
            <a:avLst>
              <a:gd name="adj" fmla="val 2857"/>
            </a:avLst>
          </a:prstGeom>
          <a:solidFill>
            <a:srgbClr val="CADCFC"/>
          </a:solidFill>
          <a:ln/>
        </p:spPr>
      </p:sp>
      <p:sp>
        <p:nvSpPr>
          <p:cNvPr id="6" name="Text 4"/>
          <p:cNvSpPr/>
          <p:nvPr/>
        </p:nvSpPr>
        <p:spPr>
          <a:xfrm>
            <a:off x="914400" y="2560320"/>
            <a:ext cx="4617720" cy="41148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Adult Income</a:t>
            </a:r>
            <a:endParaRPr lang="en-US" sz="1500" dirty="0"/>
          </a:p>
        </p:txBody>
      </p:sp>
      <p:sp>
        <p:nvSpPr>
          <p:cNvPr id="7" name="Text 5"/>
          <p:cNvSpPr/>
          <p:nvPr/>
        </p:nvSpPr>
        <p:spPr>
          <a:xfrm>
            <a:off x="914400" y="2971800"/>
            <a:ext cx="4617720" cy="1097280"/>
          </a:xfrm>
          <a:prstGeom prst="rect">
            <a:avLst/>
          </a:prstGeom>
          <a:noFill/>
          <a:ln/>
        </p:spPr>
        <p:txBody>
          <a:bodyPr wrap="square" rtlCol="0" anchor="ctr"/>
          <a:lstStyle/>
          <a:p>
            <a:pPr marL="0" indent="0">
              <a:buNone/>
            </a:pPr>
            <a:r>
              <a:rPr lang="en-US" sz="5000" b="1" dirty="0">
                <a:solidFill>
                  <a:srgbClr val="1E2761"/>
                </a:solidFill>
                <a:latin typeface="Cambria" pitchFamily="34" charset="0"/>
                <a:ea typeface="Cambria" pitchFamily="34" charset="-122"/>
                <a:cs typeface="Cambria" pitchFamily="34" charset="-120"/>
              </a:rPr>
              <a:t>+0.034</a:t>
            </a:r>
            <a:endParaRPr lang="en-US" sz="5000" dirty="0"/>
          </a:p>
        </p:txBody>
      </p:sp>
      <p:sp>
        <p:nvSpPr>
          <p:cNvPr id="8" name="Text 6"/>
          <p:cNvSpPr/>
          <p:nvPr/>
        </p:nvSpPr>
        <p:spPr>
          <a:xfrm>
            <a:off x="914400" y="4114800"/>
            <a:ext cx="461772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Fairness IMPROVED  ↑</a:t>
            </a:r>
            <a:endParaRPr lang="en-US" sz="1500" dirty="0"/>
          </a:p>
        </p:txBody>
      </p:sp>
      <p:sp>
        <p:nvSpPr>
          <p:cNvPr id="9" name="Text 7"/>
          <p:cNvSpPr/>
          <p:nvPr/>
        </p:nvSpPr>
        <p:spPr>
          <a:xfrm>
            <a:off x="914400" y="4663440"/>
            <a:ext cx="4617720" cy="365760"/>
          </a:xfrm>
          <a:prstGeom prst="rect">
            <a:avLst/>
          </a:prstGeom>
          <a:noFill/>
          <a:ln/>
        </p:spPr>
        <p:txBody>
          <a:bodyPr wrap="square" rtlCol="0" anchor="ctr"/>
          <a:lstStyle/>
          <a:p>
            <a:pPr marL="0" indent="0">
              <a:buNone/>
            </a:pPr>
            <a:r>
              <a:rPr lang="en-US" sz="1100" dirty="0">
                <a:solidFill>
                  <a:srgbClr val="1E2761"/>
                </a:solidFill>
                <a:latin typeface="Calibri" pitchFamily="34" charset="0"/>
                <a:ea typeface="Calibri" pitchFamily="34" charset="-122"/>
                <a:cs typeface="Calibri" pitchFamily="34" charset="-120"/>
              </a:rPr>
              <a:t>Δ |Statistical Parity Difference|</a:t>
            </a:r>
            <a:endParaRPr lang="en-US" sz="1100" dirty="0"/>
          </a:p>
        </p:txBody>
      </p:sp>
      <p:sp>
        <p:nvSpPr>
          <p:cNvPr id="10" name="Shape 8"/>
          <p:cNvSpPr/>
          <p:nvPr/>
        </p:nvSpPr>
        <p:spPr>
          <a:xfrm>
            <a:off x="6263640" y="2331720"/>
            <a:ext cx="5349240" cy="3200400"/>
          </a:xfrm>
          <a:prstGeom prst="roundRect">
            <a:avLst>
              <a:gd name="adj" fmla="val 2857"/>
            </a:avLst>
          </a:prstGeom>
          <a:solidFill>
            <a:srgbClr val="E8604C"/>
          </a:solidFill>
          <a:ln/>
        </p:spPr>
      </p:sp>
      <p:sp>
        <p:nvSpPr>
          <p:cNvPr id="11" name="Text 9"/>
          <p:cNvSpPr/>
          <p:nvPr/>
        </p:nvSpPr>
        <p:spPr>
          <a:xfrm>
            <a:off x="6629400" y="2560320"/>
            <a:ext cx="461772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COMPAS</a:t>
            </a:r>
            <a:endParaRPr lang="en-US" sz="1500" dirty="0"/>
          </a:p>
        </p:txBody>
      </p:sp>
      <p:sp>
        <p:nvSpPr>
          <p:cNvPr id="12" name="Text 10"/>
          <p:cNvSpPr/>
          <p:nvPr/>
        </p:nvSpPr>
        <p:spPr>
          <a:xfrm>
            <a:off x="6629400" y="2971800"/>
            <a:ext cx="4617720" cy="109728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−0.203</a:t>
            </a:r>
            <a:endParaRPr lang="en-US" sz="5000" dirty="0"/>
          </a:p>
        </p:txBody>
      </p:sp>
      <p:sp>
        <p:nvSpPr>
          <p:cNvPr id="13" name="Text 11"/>
          <p:cNvSpPr/>
          <p:nvPr/>
        </p:nvSpPr>
        <p:spPr>
          <a:xfrm>
            <a:off x="6629400" y="4114800"/>
            <a:ext cx="461772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Fairness WORSENED  ↓</a:t>
            </a:r>
            <a:endParaRPr lang="en-US" sz="1500" dirty="0"/>
          </a:p>
        </p:txBody>
      </p:sp>
      <p:sp>
        <p:nvSpPr>
          <p:cNvPr id="14" name="Text 12"/>
          <p:cNvSpPr/>
          <p:nvPr/>
        </p:nvSpPr>
        <p:spPr>
          <a:xfrm>
            <a:off x="6629400" y="4663440"/>
            <a:ext cx="4617720" cy="36576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Δ |Statistical Parity Difference|</a:t>
            </a:r>
            <a:endParaRPr lang="en-US" sz="1100" dirty="0"/>
          </a:p>
        </p:txBody>
      </p:sp>
      <p:sp>
        <p:nvSpPr>
          <p:cNvPr id="15" name="Text 13"/>
          <p:cNvSpPr/>
          <p:nvPr/>
        </p:nvSpPr>
        <p:spPr>
          <a:xfrm>
            <a:off x="548640" y="5760720"/>
            <a:ext cx="11064240" cy="777240"/>
          </a:xfrm>
          <a:prstGeom prst="rect">
            <a:avLst/>
          </a:prstGeom>
          <a:noFill/>
          <a:ln/>
        </p:spPr>
        <p:txBody>
          <a:bodyPr wrap="square" rtlCol="0" anchor="ctr"/>
          <a:lstStyle/>
          <a:p>
            <a:pPr marL="0" indent="0">
              <a:lnSpc>
                <a:spcPct val="125000"/>
              </a:lnSpc>
              <a:buNone/>
            </a:pPr>
            <a:r>
              <a:rPr lang="en-US" sz="1200" i="1" dirty="0">
                <a:solidFill>
                  <a:srgbClr val="6B7280"/>
                </a:solidFill>
                <a:latin typeface="Calibri" pitchFamily="34" charset="0"/>
                <a:ea typeface="Calibri" pitchFamily="34" charset="-122"/>
                <a:cs typeface="Calibri" pitchFamily="34" charset="-120"/>
              </a:rPr>
              <a:t>Because Calibrated Equalised Odds optimises a false-negative-rate calibration criterion, not statistical parity directly — and COMPAS's larger baseline disparity interacts with that criterion differently than Adult's. Practical implication: technique choice cannot be fixed once and reused across deployment contexts.</a:t>
            </a:r>
            <a:endParaRPr lang="en-US" sz="1200" dirty="0"/>
          </a:p>
        </p:txBody>
      </p:sp>
      <p:sp>
        <p:nvSpPr>
          <p:cNvPr id="16" name="Text 14"/>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DISCUSSION</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Hypotheses Revisited</a:t>
            </a:r>
            <a:endParaRPr lang="en-US" sz="3000" dirty="0"/>
          </a:p>
        </p:txBody>
      </p:sp>
      <p:sp>
        <p:nvSpPr>
          <p:cNvPr id="4" name="Shape 2"/>
          <p:cNvSpPr/>
          <p:nvPr/>
        </p:nvSpPr>
        <p:spPr>
          <a:xfrm>
            <a:off x="548640" y="1691640"/>
            <a:ext cx="1371600" cy="502920"/>
          </a:xfrm>
          <a:prstGeom prst="roundRect">
            <a:avLst>
              <a:gd name="adj" fmla="val 14545"/>
            </a:avLst>
          </a:prstGeom>
          <a:solidFill>
            <a:srgbClr val="1E2761"/>
          </a:solidFill>
          <a:ln/>
        </p:spPr>
      </p:sp>
      <p:sp>
        <p:nvSpPr>
          <p:cNvPr id="5" name="Text 3"/>
          <p:cNvSpPr/>
          <p:nvPr/>
        </p:nvSpPr>
        <p:spPr>
          <a:xfrm>
            <a:off x="548640" y="1691640"/>
            <a:ext cx="137160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H1</a:t>
            </a:r>
            <a:endParaRPr lang="en-US" sz="1800" dirty="0"/>
          </a:p>
        </p:txBody>
      </p:sp>
      <p:sp>
        <p:nvSpPr>
          <p:cNvPr id="6" name="Text 4"/>
          <p:cNvSpPr/>
          <p:nvPr/>
        </p:nvSpPr>
        <p:spPr>
          <a:xfrm>
            <a:off x="2103120" y="1645920"/>
            <a:ext cx="3200400" cy="5943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Supported</a:t>
            </a:r>
            <a:endParaRPr lang="en-US" sz="1700" dirty="0"/>
          </a:p>
        </p:txBody>
      </p:sp>
      <p:sp>
        <p:nvSpPr>
          <p:cNvPr id="7" name="Text 5"/>
          <p:cNvSpPr/>
          <p:nvPr/>
        </p:nvSpPr>
        <p:spPr>
          <a:xfrm>
            <a:off x="2103120" y="2286000"/>
            <a:ext cx="9509760" cy="1051560"/>
          </a:xfrm>
          <a:prstGeom prst="rect">
            <a:avLst/>
          </a:prstGeom>
          <a:noFill/>
          <a:ln/>
        </p:spPr>
        <p:txBody>
          <a:bodyPr wrap="square" rtlCol="0" anchor="ctr"/>
          <a:lstStyle/>
          <a:p>
            <a:pPr marL="0" indent="0">
              <a:lnSpc>
                <a:spcPct val="125000"/>
              </a:lnSpc>
              <a:buNone/>
            </a:pPr>
            <a:r>
              <a:rPr lang="en-US" sz="1350" dirty="0">
                <a:solidFill>
                  <a:srgbClr val="1A1A2E"/>
                </a:solidFill>
                <a:latin typeface="Calibri" pitchFamily="34" charset="0"/>
                <a:ea typeface="Calibri" pitchFamily="34" charset="-122"/>
                <a:cs typeface="Calibri" pitchFamily="34" charset="-120"/>
              </a:rPr>
              <a:t>13 of 33 technique-classifier comparisons reached statistical significance (p &lt; 0.05) despite the conservative 3-seed design — fairness improvement is not free in either domain.</a:t>
            </a:r>
            <a:endParaRPr lang="en-US" sz="1350" dirty="0"/>
          </a:p>
        </p:txBody>
      </p:sp>
      <p:sp>
        <p:nvSpPr>
          <p:cNvPr id="8" name="Shape 6"/>
          <p:cNvSpPr/>
          <p:nvPr/>
        </p:nvSpPr>
        <p:spPr>
          <a:xfrm>
            <a:off x="548640" y="3657600"/>
            <a:ext cx="1371600" cy="502920"/>
          </a:xfrm>
          <a:prstGeom prst="roundRect">
            <a:avLst>
              <a:gd name="adj" fmla="val 14545"/>
            </a:avLst>
          </a:prstGeom>
          <a:solidFill>
            <a:srgbClr val="E8604C"/>
          </a:solidFill>
          <a:ln/>
        </p:spPr>
      </p:sp>
      <p:sp>
        <p:nvSpPr>
          <p:cNvPr id="9" name="Text 7"/>
          <p:cNvSpPr/>
          <p:nvPr/>
        </p:nvSpPr>
        <p:spPr>
          <a:xfrm>
            <a:off x="548640" y="3657600"/>
            <a:ext cx="137160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H2</a:t>
            </a:r>
            <a:endParaRPr lang="en-US" sz="1800" dirty="0"/>
          </a:p>
        </p:txBody>
      </p:sp>
      <p:sp>
        <p:nvSpPr>
          <p:cNvPr id="10" name="Text 8"/>
          <p:cNvSpPr/>
          <p:nvPr/>
        </p:nvSpPr>
        <p:spPr>
          <a:xfrm>
            <a:off x="2103120" y="3611880"/>
            <a:ext cx="3200400" cy="594360"/>
          </a:xfrm>
          <a:prstGeom prst="rect">
            <a:avLst/>
          </a:prstGeom>
          <a:noFill/>
          <a:ln/>
        </p:spPr>
        <p:txBody>
          <a:bodyPr wrap="square" rtlCol="0" anchor="ctr"/>
          <a:lstStyle/>
          <a:p>
            <a:pPr marL="0" indent="0">
              <a:buNone/>
            </a:pPr>
            <a:r>
              <a:rPr lang="en-US" sz="1700" b="1" dirty="0">
                <a:solidFill>
                  <a:srgbClr val="E8604C"/>
                </a:solidFill>
                <a:latin typeface="Cambria" pitchFamily="34" charset="0"/>
                <a:ea typeface="Cambria" pitchFamily="34" charset="-122"/>
                <a:cs typeface="Cambria" pitchFamily="34" charset="-120"/>
              </a:rPr>
              <a:t>Partially supported</a:t>
            </a:r>
            <a:endParaRPr lang="en-US" sz="1700" dirty="0"/>
          </a:p>
        </p:txBody>
      </p:sp>
      <p:sp>
        <p:nvSpPr>
          <p:cNvPr id="11" name="Text 9"/>
          <p:cNvSpPr/>
          <p:nvPr/>
        </p:nvSpPr>
        <p:spPr>
          <a:xfrm>
            <a:off x="2103120" y="4251960"/>
            <a:ext cx="9509760" cy="1051560"/>
          </a:xfrm>
          <a:prstGeom prst="rect">
            <a:avLst/>
          </a:prstGeom>
          <a:noFill/>
          <a:ln/>
        </p:spPr>
        <p:txBody>
          <a:bodyPr wrap="square" rtlCol="0" anchor="ctr"/>
          <a:lstStyle/>
          <a:p>
            <a:pPr marL="0" indent="0">
              <a:lnSpc>
                <a:spcPct val="125000"/>
              </a:lnSpc>
              <a:buNone/>
            </a:pPr>
            <a:r>
              <a:rPr lang="en-US" sz="1350" dirty="0">
                <a:solidFill>
                  <a:srgbClr val="1A1A2E"/>
                </a:solidFill>
                <a:latin typeface="Calibri" pitchFamily="34" charset="0"/>
                <a:ea typeface="Calibri" pitchFamily="34" charset="-122"/>
                <a:cs typeface="Calibri" pitchFamily="34" charset="-120"/>
              </a:rPr>
              <a:t>Prejudice Remover (in-processing) was the costliest on COMPAS, as predicted — but post-processing (Reject Option) was NOT uniformly cheapest; pre-processing was consistently cheaper across both domains.</a:t>
            </a:r>
            <a:endParaRPr lang="en-US" sz="1350" dirty="0"/>
          </a:p>
        </p:txBody>
      </p:sp>
      <p:sp>
        <p:nvSpPr>
          <p:cNvPr id="12" name="Text 10"/>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E8604C"/>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Limitations and Future Work</a:t>
            </a:r>
            <a:endParaRPr lang="en-US" sz="3000" dirty="0"/>
          </a:p>
        </p:txBody>
      </p:sp>
      <p:sp>
        <p:nvSpPr>
          <p:cNvPr id="4" name="Text 2"/>
          <p:cNvSpPr/>
          <p:nvPr/>
        </p:nvSpPr>
        <p:spPr>
          <a:xfrm>
            <a:off x="548640" y="1600200"/>
            <a:ext cx="5303520" cy="365760"/>
          </a:xfrm>
          <a:prstGeom prst="rect">
            <a:avLst/>
          </a:prstGeom>
          <a:noFill/>
          <a:ln/>
        </p:spPr>
        <p:txBody>
          <a:bodyPr wrap="square" rtlCol="0" anchor="ctr"/>
          <a:lstStyle/>
          <a:p>
            <a:pPr marL="0" indent="0">
              <a:buNone/>
            </a:pPr>
            <a:r>
              <a:rPr lang="en-US" sz="1300" b="1" kern="0" spc="100" dirty="0">
                <a:solidFill>
                  <a:srgbClr val="E8604C"/>
                </a:solidFill>
                <a:latin typeface="Calibri" pitchFamily="34" charset="0"/>
                <a:ea typeface="Calibri" pitchFamily="34" charset="-122"/>
                <a:cs typeface="Calibri" pitchFamily="34" charset="-120"/>
              </a:rPr>
              <a:t>LIMITATIONS</a:t>
            </a:r>
            <a:endParaRPr lang="en-US" sz="1300" dirty="0"/>
          </a:p>
        </p:txBody>
      </p:sp>
      <p:sp>
        <p:nvSpPr>
          <p:cNvPr id="5" name="Text 3"/>
          <p:cNvSpPr/>
          <p:nvPr/>
        </p:nvSpPr>
        <p:spPr>
          <a:xfrm>
            <a:off x="548640" y="2011680"/>
            <a:ext cx="5303520" cy="3566160"/>
          </a:xfrm>
          <a:prstGeom prst="rect">
            <a:avLst/>
          </a:prstGeom>
          <a:noFill/>
          <a:ln/>
        </p:spPr>
        <p:txBody>
          <a:bodyPr wrap="square" rtlCol="0" anchor="ctr"/>
          <a:lstStyle/>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3-seed budget — sufficient for descriptive stats, underpowered for strict significance testing</a:t>
            </a:r>
            <a:endParaRPr lang="en-US" sz="1400" dirty="0"/>
          </a:p>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Fixed rather than per-condition Bayesian-optimised hyperparameters</a:t>
            </a:r>
            <a:endParaRPr lang="en-US" sz="1400" dirty="0"/>
          </a:p>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5 of 9 AIF360 techniques evaluated</a:t>
            </a:r>
            <a:endParaRPr lang="en-US" sz="1400" dirty="0"/>
          </a:p>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Two-domain scope (criminal justice, employment)</a:t>
            </a:r>
            <a:endParaRPr lang="en-US" sz="1400" dirty="0"/>
          </a:p>
        </p:txBody>
      </p:sp>
      <p:sp>
        <p:nvSpPr>
          <p:cNvPr id="6" name="Text 4"/>
          <p:cNvSpPr/>
          <p:nvPr/>
        </p:nvSpPr>
        <p:spPr>
          <a:xfrm>
            <a:off x="6309360" y="1600200"/>
            <a:ext cx="5303520" cy="365760"/>
          </a:xfrm>
          <a:prstGeom prst="rect">
            <a:avLst/>
          </a:prstGeom>
          <a:noFill/>
          <a:ln/>
        </p:spPr>
        <p:txBody>
          <a:bodyPr wrap="square" rtlCol="0" anchor="ctr"/>
          <a:lstStyle/>
          <a:p>
            <a:pPr marL="0" indent="0">
              <a:buNone/>
            </a:pPr>
            <a:r>
              <a:rPr lang="en-US" sz="1300" b="1" kern="0" spc="100" dirty="0">
                <a:solidFill>
                  <a:srgbClr val="1E2761"/>
                </a:solidFill>
                <a:latin typeface="Calibri" pitchFamily="34" charset="0"/>
                <a:ea typeface="Calibri" pitchFamily="34" charset="-122"/>
                <a:cs typeface="Calibri" pitchFamily="34" charset="-120"/>
              </a:rPr>
              <a:t>FUTURE WORK</a:t>
            </a:r>
            <a:endParaRPr lang="en-US" sz="1300" dirty="0"/>
          </a:p>
        </p:txBody>
      </p:sp>
      <p:sp>
        <p:nvSpPr>
          <p:cNvPr id="7" name="Text 5"/>
          <p:cNvSpPr/>
          <p:nvPr/>
        </p:nvSpPr>
        <p:spPr>
          <a:xfrm>
            <a:off x="6309360" y="2011680"/>
            <a:ext cx="5303520" cy="3566160"/>
          </a:xfrm>
          <a:prstGeom prst="rect">
            <a:avLst/>
          </a:prstGeom>
          <a:noFill/>
          <a:ln/>
        </p:spPr>
        <p:txBody>
          <a:bodyPr wrap="square" rtlCol="0" anchor="ctr"/>
          <a:lstStyle/>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Extend to the remaining 4 AIF360 techniques</a:t>
            </a:r>
            <a:endParaRPr lang="en-US" sz="1400" dirty="0"/>
          </a:p>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Increase seed count to sharpen statistical power</a:t>
            </a:r>
            <a:endParaRPr lang="en-US" sz="1400" dirty="0"/>
          </a:p>
          <a:p>
            <a:pPr marL="342900" indent="-342900">
              <a:lnSpc>
                <a:spcPct val="140000"/>
              </a:lnSpc>
              <a:spcAft>
                <a:spcPts val="1200"/>
              </a:spcAft>
              <a:buSzPct val="100000"/>
              <a:buChar char="●"/>
            </a:pPr>
            <a:r>
              <a:rPr lang="en-US" sz="1400" dirty="0">
                <a:solidFill>
                  <a:srgbClr val="1A1A2E"/>
                </a:solidFill>
                <a:latin typeface="Calibri" pitchFamily="34" charset="0"/>
                <a:ea typeface="Calibri" pitchFamily="34" charset="-122"/>
                <a:cs typeface="Calibri" pitchFamily="34" charset="-120"/>
              </a:rPr>
              <a:t>Extend the controlled design to further regulated domains as suitable public datasets become available</a:t>
            </a:r>
            <a:endParaRPr lang="en-US" sz="1400" dirty="0"/>
          </a:p>
        </p:txBody>
      </p:sp>
      <p:sp>
        <p:nvSpPr>
          <p:cNvPr id="8" name="Text 6"/>
          <p:cNvSpPr/>
          <p:nvPr/>
        </p:nvSpPr>
        <p:spPr>
          <a:xfrm>
            <a:off x="11365992" y="640080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85800"/>
            <a:ext cx="1106424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Trade-off Is Real, and It Is Not Universal</a:t>
            </a:r>
            <a:endParaRPr lang="en-US" sz="3000" dirty="0"/>
          </a:p>
        </p:txBody>
      </p:sp>
      <p:sp>
        <p:nvSpPr>
          <p:cNvPr id="4" name="Text 2"/>
          <p:cNvSpPr/>
          <p:nvPr/>
        </p:nvSpPr>
        <p:spPr>
          <a:xfrm>
            <a:off x="548640" y="1965960"/>
            <a:ext cx="11064240" cy="1463040"/>
          </a:xfrm>
          <a:prstGeom prst="rect">
            <a:avLst/>
          </a:prstGeom>
          <a:noFill/>
          <a:ln/>
        </p:spPr>
        <p:txBody>
          <a:bodyPr wrap="square" rtlCol="0" anchor="ctr"/>
          <a:lstStyle/>
          <a:p>
            <a:pPr marL="0" indent="0">
              <a:lnSpc>
                <a:spcPct val="135000"/>
              </a:lnSpc>
              <a:buNone/>
            </a:pPr>
            <a:r>
              <a:rPr lang="en-US" sz="1700" dirty="0">
                <a:solidFill>
                  <a:srgbClr val="FFFFFF"/>
                </a:solidFill>
                <a:latin typeface="Calibri" pitchFamily="34" charset="0"/>
                <a:ea typeface="Calibri" pitchFamily="34" charset="-122"/>
                <a:cs typeface="Calibri" pitchFamily="34" charset="-120"/>
              </a:rPr>
              <a:t>Across 126 empirical runs, two domains, five techniques, and four classifiers, the accuracy cost of racial bias mitigation is measurable — but no single technique is cheapest everywhere. The same technique can improve fairness in one domain while worsening it in another, when its target criterion doesn't match the domain's disparity structure.</a:t>
            </a:r>
            <a:endParaRPr lang="en-US" sz="1700" dirty="0"/>
          </a:p>
        </p:txBody>
      </p:sp>
      <p:sp>
        <p:nvSpPr>
          <p:cNvPr id="5" name="Text 3"/>
          <p:cNvSpPr/>
          <p:nvPr/>
        </p:nvSpPr>
        <p:spPr>
          <a:xfrm>
            <a:off x="548640" y="3611880"/>
            <a:ext cx="11064240" cy="914400"/>
          </a:xfrm>
          <a:prstGeom prst="rect">
            <a:avLst/>
          </a:prstGeom>
          <a:noFill/>
          <a:ln/>
        </p:spPr>
        <p:txBody>
          <a:bodyPr wrap="square" rtlCol="0" anchor="ctr"/>
          <a:lstStyle/>
          <a:p>
            <a:pPr marL="0" indent="0">
              <a:lnSpc>
                <a:spcPct val="130000"/>
              </a:lnSpc>
              <a:buNone/>
            </a:pPr>
            <a:r>
              <a:rPr lang="en-US" sz="1500" i="1" dirty="0">
                <a:solidFill>
                  <a:srgbClr val="CADCFC"/>
                </a:solidFill>
                <a:latin typeface="Calibri" pitchFamily="34" charset="0"/>
                <a:ea typeface="Calibri" pitchFamily="34" charset="-122"/>
                <a:cs typeface="Calibri" pitchFamily="34" charset="-120"/>
              </a:rPr>
              <a:t>For organisations under the EU AI Act: debiasing technique choice must be re-evaluated per deployment domain — it cannot be selected once and reused.</a:t>
            </a:r>
            <a:endParaRPr lang="en-US" sz="1500" dirty="0"/>
          </a:p>
        </p:txBody>
      </p:sp>
      <p:sp>
        <p:nvSpPr>
          <p:cNvPr id="6" name="Shape 4"/>
          <p:cNvSpPr/>
          <p:nvPr/>
        </p:nvSpPr>
        <p:spPr>
          <a:xfrm>
            <a:off x="548640" y="4846320"/>
            <a:ext cx="1463040" cy="45720"/>
          </a:xfrm>
          <a:prstGeom prst="rect">
            <a:avLst/>
          </a:prstGeom>
          <a:solidFill>
            <a:srgbClr val="E8604C"/>
          </a:solidFill>
          <a:ln/>
        </p:spPr>
      </p:sp>
      <p:sp>
        <p:nvSpPr>
          <p:cNvPr id="7" name="Text 5"/>
          <p:cNvSpPr/>
          <p:nvPr/>
        </p:nvSpPr>
        <p:spPr>
          <a:xfrm>
            <a:off x="548640" y="5120640"/>
            <a:ext cx="7315200" cy="5486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 — questions welcome</a:t>
            </a:r>
            <a:endParaRPr lang="en-US" sz="2000" dirty="0"/>
          </a:p>
        </p:txBody>
      </p:sp>
      <p:sp>
        <p:nvSpPr>
          <p:cNvPr id="8" name="Text 6"/>
          <p:cNvSpPr/>
          <p:nvPr/>
        </p:nvSpPr>
        <p:spPr>
          <a:xfrm>
            <a:off x="548640" y="5760720"/>
            <a:ext cx="9144000" cy="36576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Joshua Oghosasehe Ekogiawe  ·  Ulster University  ·  </a:t>
            </a:r>
            <a:r>
              <a:rPr lang="en-US" sz="1200" dirty="0" smtClean="0">
                <a:solidFill>
                  <a:srgbClr val="6B7280"/>
                </a:solidFill>
                <a:latin typeface="Calibri" pitchFamily="34" charset="0"/>
                <a:ea typeface="Calibri" pitchFamily="34" charset="-122"/>
                <a:cs typeface="Calibri" pitchFamily="34" charset="-120"/>
              </a:rPr>
              <a:t>B01045839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956</Words>
  <Application>Microsoft Office PowerPoint</Application>
  <PresentationFormat>Widescreen</PresentationFormat>
  <Paragraphs>155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Windows 11</cp:lastModifiedBy>
  <cp:revision>2</cp:revision>
  <dcterms:created xsi:type="dcterms:W3CDTF">2026-07-22T22:00:21Z</dcterms:created>
  <dcterms:modified xsi:type="dcterms:W3CDTF">2026-08-16T22:34:05Z</dcterms:modified>
</cp:coreProperties>
</file>